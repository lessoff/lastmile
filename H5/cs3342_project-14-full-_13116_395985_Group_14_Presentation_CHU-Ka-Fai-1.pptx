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8"/>
  </p:notesMasterIdLst>
  <p:sldIdLst>
    <p:sldId id="256" r:id="rId2"/>
    <p:sldId id="272" r:id="rId3"/>
    <p:sldId id="273" r:id="rId4"/>
    <p:sldId id="274" r:id="rId5"/>
    <p:sldId id="275" r:id="rId6"/>
    <p:sldId id="276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293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94" r:id="rId30"/>
    <p:sldId id="289" r:id="rId31"/>
    <p:sldId id="288" r:id="rId32"/>
    <p:sldId id="290" r:id="rId33"/>
    <p:sldId id="295" r:id="rId34"/>
    <p:sldId id="296" r:id="rId35"/>
    <p:sldId id="302" r:id="rId36"/>
    <p:sldId id="303" r:id="rId37"/>
  </p:sldIdLst>
  <p:sldSz cx="9144000" cy="6858000" type="screen4x3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5461" autoAdjust="0"/>
  </p:normalViewPr>
  <p:slideViewPr>
    <p:cSldViewPr snapToGrid="0">
      <p:cViewPr varScale="1">
        <p:scale>
          <a:sx n="122" d="100"/>
          <a:sy n="122" d="100"/>
        </p:scale>
        <p:origin x="1320" y="102"/>
      </p:cViewPr>
      <p:guideLst/>
    </p:cSldViewPr>
  </p:slideViewPr>
  <p:outlineViewPr>
    <p:cViewPr>
      <p:scale>
        <a:sx n="33" d="100"/>
        <a:sy n="33" d="100"/>
      </p:scale>
      <p:origin x="0" y="-639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83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0B138-D696-4520-8DDF-6F0D8AC0A3E6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6C1B68-1935-4BEA-824A-B1B8A77E23F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44182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dirty="0" smtClean="0"/>
              <a:t>3 notifications (upcoming</a:t>
            </a:r>
            <a:r>
              <a:rPr lang="en-US" altLang="zh-HK" baseline="0" dirty="0" smtClean="0"/>
              <a:t> events, event update, host message</a:t>
            </a:r>
            <a:r>
              <a:rPr lang="en-US" altLang="zh-HK" dirty="0" smtClean="0"/>
              <a:t>)</a:t>
            </a:r>
          </a:p>
          <a:p>
            <a:r>
              <a:rPr lang="en-US" altLang="zh-HK" dirty="0" smtClean="0"/>
              <a:t>Feedback-&gt;comment</a:t>
            </a:r>
            <a:r>
              <a:rPr lang="en-US" altLang="zh-HK" baseline="0" dirty="0" smtClean="0"/>
              <a:t> to admin</a:t>
            </a:r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C1B68-1935-4BEA-824A-B1B8A77E23F9}" type="slidenum">
              <a:rPr lang="zh-HK" altLang="en-US" smtClean="0"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72700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83" name="Shape 1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/>
            </a:pPr>
            <a:r>
              <a:rPr sz="1200"/>
              <a:t>http://invis.io/422QTPNCG</a:t>
            </a:r>
          </a:p>
        </p:txBody>
      </p:sp>
    </p:spTree>
    <p:extLst>
      <p:ext uri="{BB962C8B-B14F-4D97-AF65-F5344CB8AC3E}">
        <p14:creationId xmlns:p14="http://schemas.microsoft.com/office/powerpoint/2010/main" val="434746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88" name="Shape 18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lnSpc>
                <a:spcPct val="100000"/>
              </a:lnSpc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Responsibilities distributed evenly according to areas of interest</a:t>
            </a:r>
          </a:p>
          <a:p>
            <a:pPr lvl="0">
              <a:lnSpc>
                <a:spcPct val="100000"/>
              </a:lnSpc>
              <a:defRPr sz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00000"/>
              </a:lnSpc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Everyone participated in requirement analysis and use case diagrams</a:t>
            </a:r>
          </a:p>
          <a:p>
            <a:pPr lvl="0">
              <a:lnSpc>
                <a:spcPct val="100000"/>
              </a:lnSpc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Tom and Ka Fai are devoted to the design of class diagrams and design patterns</a:t>
            </a:r>
          </a:p>
          <a:p>
            <a:pPr lvl="0">
              <a:lnSpc>
                <a:spcPct val="100000"/>
              </a:lnSpc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Buster is responsible for most of the use case specifications, sequence diagrams and project assembly</a:t>
            </a:r>
          </a:p>
          <a:p>
            <a:pPr lvl="0">
              <a:lnSpc>
                <a:spcPct val="100000"/>
              </a:lnSpc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Sally and I are focusing mostly on background research and prototype visualization</a:t>
            </a:r>
          </a:p>
          <a:p>
            <a:pPr lvl="0">
              <a:lnSpc>
                <a:spcPct val="100000"/>
              </a:lnSpc>
              <a:defRPr sz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00000"/>
              </a:lnSpc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All of us consult and help each other with parts that we are not certain about</a:t>
            </a:r>
          </a:p>
          <a:p>
            <a:pPr lvl="0">
              <a:lnSpc>
                <a:spcPct val="100000"/>
              </a:lnSpc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We take time to work with each other and discuss together</a:t>
            </a:r>
          </a:p>
          <a:p>
            <a:pPr lvl="0">
              <a:lnSpc>
                <a:spcPct val="100000"/>
              </a:lnSpc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And break down the project in small parts so we can work individually</a:t>
            </a:r>
          </a:p>
          <a:p>
            <a:pPr lvl="0">
              <a:lnSpc>
                <a:spcPct val="100000"/>
              </a:lnSpc>
              <a:defRPr sz="1800"/>
            </a:pPr>
            <a:r>
              <a:rPr sz="1200">
                <a:latin typeface="Calibri"/>
                <a:ea typeface="Calibri"/>
                <a:cs typeface="Calibri"/>
                <a:sym typeface="Calibri"/>
              </a:rPr>
              <a:t>For example….</a:t>
            </a:r>
          </a:p>
          <a:p>
            <a:pPr lvl="0">
              <a:lnSpc>
                <a:spcPct val="100000"/>
              </a:lnSpc>
              <a:defRPr sz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282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90890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0575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3621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5103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9628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4334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0761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0269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9509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5080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11565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75515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22129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46006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68412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56177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14511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/>
          </p:cNvSpPr>
          <p:nvPr>
            <p:ph type="title"/>
          </p:nvPr>
        </p:nvSpPr>
        <p:spPr>
          <a:xfrm>
            <a:off x="982132" y="581848"/>
            <a:ext cx="7704668" cy="1960505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标题文本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"/>
          </p:nvPr>
        </p:nvSpPr>
        <p:spPr>
          <a:xfrm>
            <a:off x="982132" y="2542352"/>
            <a:ext cx="3739898" cy="3617970"/>
          </a:xfrm>
          <a:prstGeom prst="rect">
            <a:avLst/>
          </a:prstGeom>
        </p:spPr>
        <p:txBody>
          <a:bodyPr anchor="ctr"/>
          <a:lstStyle>
            <a:lvl1pPr>
              <a:defRPr sz="1800"/>
            </a:lvl1pPr>
            <a:lvl2pPr marL="778668" indent="-321468">
              <a:defRPr sz="1800"/>
            </a:lvl2pPr>
            <a:lvl3pPr marL="1281792" indent="-367392">
              <a:defRPr sz="1800"/>
            </a:lvl3pPr>
            <a:lvl4pPr>
              <a:defRPr sz="1800"/>
            </a:lvl4pPr>
            <a:lvl5pPr marL="2085975" indent="-257175">
              <a:defRPr sz="1800"/>
            </a:lvl5pPr>
          </a:lstStyle>
          <a:p>
            <a:pPr lvl="0"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6" name="Shape 3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29008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FD598B-2D91-47DA-A08F-50F7C6E76DEE}" type="datetimeFigureOut">
              <a:rPr lang="zh-HK" altLang="en-US" smtClean="0"/>
              <a:t>1/5/2015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92169F3-D6DF-40C3-9873-081A767F161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0948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vr6EUXHN88c&amp;feature=youtu.be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1045" y="467591"/>
            <a:ext cx="7595756" cy="3488266"/>
          </a:xfrm>
        </p:spPr>
        <p:txBody>
          <a:bodyPr>
            <a:normAutofit/>
          </a:bodyPr>
          <a:lstStyle/>
          <a:p>
            <a:r>
              <a:rPr lang="en-US" altLang="zh-HK" sz="4300" dirty="0" smtClean="0"/>
              <a:t>CS3342 Software Design Project</a:t>
            </a:r>
            <a:br>
              <a:rPr lang="en-US" altLang="zh-HK" sz="4300" dirty="0" smtClean="0"/>
            </a:br>
            <a:r>
              <a:rPr lang="en-US" altLang="zh-HK" sz="3200" dirty="0"/>
              <a:t>EVENTIFY - Online Event Holding System</a:t>
            </a:r>
            <a:endParaRPr lang="zh-HK" altLang="en-US" sz="4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924238" y="3955856"/>
            <a:ext cx="5762563" cy="2309861"/>
          </a:xfrm>
        </p:spPr>
        <p:txBody>
          <a:bodyPr>
            <a:normAutofit fontScale="92500" lnSpcReduction="10000"/>
          </a:bodyPr>
          <a:lstStyle/>
          <a:p>
            <a:r>
              <a:rPr lang="en-US" altLang="zh-HK" dirty="0" smtClean="0"/>
              <a:t>Group 14</a:t>
            </a:r>
          </a:p>
          <a:p>
            <a:r>
              <a:rPr lang="en-US" altLang="zh-HK" dirty="0"/>
              <a:t>CHEN </a:t>
            </a:r>
            <a:r>
              <a:rPr lang="en-US" altLang="zh-HK" dirty="0" err="1"/>
              <a:t>Qianxun</a:t>
            </a:r>
            <a:r>
              <a:rPr lang="en-US" altLang="zh-HK" dirty="0"/>
              <a:t>	</a:t>
            </a:r>
            <a:r>
              <a:rPr lang="en-US" altLang="zh-HK" dirty="0" smtClean="0"/>
              <a:t>	53050023 </a:t>
            </a:r>
            <a:endParaRPr lang="en-US" altLang="zh-HK" dirty="0"/>
          </a:p>
          <a:p>
            <a:r>
              <a:rPr lang="en-US" altLang="zh-HK" dirty="0"/>
              <a:t>CHEN </a:t>
            </a:r>
            <a:r>
              <a:rPr lang="en-US" altLang="zh-HK" dirty="0" err="1" smtClean="0"/>
              <a:t>Zong</a:t>
            </a:r>
            <a:r>
              <a:rPr lang="en-US" altLang="zh-HK" dirty="0" smtClean="0"/>
              <a:t>		52911585</a:t>
            </a:r>
            <a:endParaRPr lang="en-US" altLang="zh-HK" dirty="0"/>
          </a:p>
          <a:p>
            <a:r>
              <a:rPr lang="en-US" altLang="zh-HK" dirty="0"/>
              <a:t>CHU Ka </a:t>
            </a:r>
            <a:r>
              <a:rPr lang="en-US" altLang="zh-HK" dirty="0" smtClean="0"/>
              <a:t>Fai		53551604</a:t>
            </a:r>
            <a:endParaRPr lang="en-US" altLang="zh-HK" dirty="0"/>
          </a:p>
          <a:p>
            <a:r>
              <a:rPr lang="en-US" altLang="zh-HK" dirty="0"/>
              <a:t>FUNG Chung </a:t>
            </a:r>
            <a:r>
              <a:rPr lang="en-US" altLang="zh-HK" dirty="0" smtClean="0"/>
              <a:t>Kit	53563688</a:t>
            </a:r>
            <a:endParaRPr lang="en-US" altLang="zh-HK" dirty="0"/>
          </a:p>
          <a:p>
            <a:r>
              <a:rPr lang="en-US" altLang="zh-HK" dirty="0"/>
              <a:t>GO Ming </a:t>
            </a:r>
            <a:r>
              <a:rPr lang="en-US" altLang="zh-HK" dirty="0" err="1" smtClean="0"/>
              <a:t>Tsun</a:t>
            </a:r>
            <a:r>
              <a:rPr lang="en-US" altLang="zh-HK" dirty="0" smtClean="0"/>
              <a:t>		53552489</a:t>
            </a:r>
            <a:endParaRPr lang="en-US" altLang="zh-HK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33838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/>
          </p:cNvSpPr>
          <p:nvPr>
            <p:ph type="title"/>
          </p:nvPr>
        </p:nvSpPr>
        <p:spPr>
          <a:xfrm>
            <a:off x="1168008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 dirty="0"/>
              <a:t>Background &amp; Problem</a:t>
            </a:r>
          </a:p>
        </p:txBody>
      </p:sp>
      <p:sp>
        <p:nvSpPr>
          <p:cNvPr id="108" name="Shape 108"/>
          <p:cNvSpPr>
            <a:spLocks noGrp="1"/>
          </p:cNvSpPr>
          <p:nvPr>
            <p:ph type="body" idx="1"/>
          </p:nvPr>
        </p:nvSpPr>
        <p:spPr>
          <a:xfrm>
            <a:off x="4835134" y="2779749"/>
            <a:ext cx="4149209" cy="8291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393192">
              <a:spcBef>
                <a:spcPts val="500"/>
              </a:spcBef>
              <a:buClrTx/>
              <a:buSzTx/>
              <a:buFontTx/>
              <a:buNone/>
              <a:defRPr sz="2064"/>
            </a:lvl1pPr>
          </a:lstStyle>
          <a:p>
            <a:pPr lvl="0" algn="ctr">
              <a:defRPr sz="1800"/>
            </a:pPr>
            <a:r>
              <a:rPr sz="2400" dirty="0"/>
              <a:t>Difficult to search various kind </a:t>
            </a:r>
            <a:r>
              <a:rPr sz="2400" dirty="0" smtClean="0"/>
              <a:t>of </a:t>
            </a:r>
            <a:r>
              <a:rPr sz="2400" dirty="0"/>
              <a:t>events in one single platform </a:t>
            </a:r>
          </a:p>
        </p:txBody>
      </p:sp>
      <p:pic>
        <p:nvPicPr>
          <p:cNvPr id="109" name="calendar53.png"/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96703" y="1531379"/>
            <a:ext cx="829122" cy="829122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Shape 110"/>
          <p:cNvSpPr/>
          <p:nvPr/>
        </p:nvSpPr>
        <p:spPr>
          <a:xfrm>
            <a:off x="1041395" y="2824978"/>
            <a:ext cx="3793739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457200">
              <a:spcBef>
                <a:spcPts val="600"/>
              </a:spcBef>
              <a:defRPr sz="2400"/>
            </a:lvl1pPr>
          </a:lstStyle>
          <a:p>
            <a:pPr lvl="0">
              <a:defRPr sz="1800"/>
            </a:pPr>
            <a:r>
              <a:rPr sz="2400" dirty="0"/>
              <a:t>Hong Kong, a dynamic place where lot of events going on</a:t>
            </a:r>
          </a:p>
        </p:txBody>
      </p:sp>
      <p:pic>
        <p:nvPicPr>
          <p:cNvPr id="111" name="choosing3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96703" y="4028120"/>
            <a:ext cx="829122" cy="829122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Shape 112"/>
          <p:cNvSpPr/>
          <p:nvPr/>
        </p:nvSpPr>
        <p:spPr>
          <a:xfrm>
            <a:off x="914400" y="5314854"/>
            <a:ext cx="3920733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ctr" defTabSz="457200">
              <a:spcBef>
                <a:spcPts val="600"/>
              </a:spcBef>
              <a:defRPr sz="2400"/>
            </a:lvl1pPr>
          </a:lstStyle>
          <a:p>
            <a:pPr lvl="0">
              <a:defRPr sz="1800"/>
            </a:pPr>
            <a:r>
              <a:rPr sz="2400" dirty="0"/>
              <a:t>Small organizations/individuals cannot afford huge  promotion cost</a:t>
            </a:r>
          </a:p>
        </p:txBody>
      </p:sp>
      <p:pic>
        <p:nvPicPr>
          <p:cNvPr id="113" name="target21.png"/>
          <p:cNvPicPr/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95176" y="4028120"/>
            <a:ext cx="829123" cy="829122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4835133" y="5499520"/>
            <a:ext cx="4037543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457200">
              <a:spcBef>
                <a:spcPts val="600"/>
              </a:spcBef>
              <a:defRPr sz="2400"/>
            </a:lvl1pPr>
          </a:lstStyle>
          <a:p>
            <a:pPr lvl="0" algn="ctr">
              <a:defRPr sz="1800"/>
            </a:pPr>
            <a:r>
              <a:rPr sz="2400" dirty="0"/>
              <a:t>Current promotion paths are not effective/ limited influence</a:t>
            </a:r>
          </a:p>
        </p:txBody>
      </p:sp>
      <p:pic>
        <p:nvPicPr>
          <p:cNvPr id="115" name="dark37.png"/>
          <p:cNvPicPr/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95176" y="1531379"/>
            <a:ext cx="829123" cy="8291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0055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Eventify-01.png"/>
          <p:cNvPicPr/>
          <p:nvPr/>
        </p:nvPicPr>
        <p:blipFill>
          <a:blip r:embed="rId2">
            <a:extLst/>
          </a:blip>
          <a:srcRect l="2962" t="58815" b="13548"/>
          <a:stretch>
            <a:fillRect/>
          </a:stretch>
        </p:blipFill>
        <p:spPr>
          <a:xfrm>
            <a:off x="2357933" y="1869777"/>
            <a:ext cx="4991101" cy="1895228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Shape 119"/>
          <p:cNvSpPr>
            <a:spLocks noGrp="1"/>
          </p:cNvSpPr>
          <p:nvPr>
            <p:ph type="body" idx="4294967295"/>
          </p:nvPr>
        </p:nvSpPr>
        <p:spPr>
          <a:xfrm>
            <a:off x="3090333" y="3681751"/>
            <a:ext cx="3526302" cy="1400432"/>
          </a:xfrm>
          <a:prstGeom prst="rect">
            <a:avLst/>
          </a:prstGeom>
        </p:spPr>
        <p:txBody>
          <a:bodyPr lIns="0" tIns="0" rIns="0" bIns="0"/>
          <a:lstStyle/>
          <a:p>
            <a:pPr lvl="0">
              <a:defRPr sz="1800"/>
            </a:pPr>
            <a:r>
              <a:rPr sz="2400"/>
              <a:t>Event-based platform</a:t>
            </a:r>
          </a:p>
          <a:p>
            <a:pPr lvl="0">
              <a:defRPr sz="1800"/>
            </a:pPr>
            <a:r>
              <a:rPr sz="2400"/>
              <a:t>Free to use!</a:t>
            </a:r>
          </a:p>
          <a:p>
            <a:pPr lvl="0">
              <a:defRPr sz="1800"/>
            </a:pPr>
            <a:r>
              <a:rPr sz="2400"/>
              <a:t>User 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186564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 dirty="0"/>
              <a:t>Objectives</a:t>
            </a:r>
          </a:p>
        </p:txBody>
      </p:sp>
      <p:sp>
        <p:nvSpPr>
          <p:cNvPr id="122" name="Shape 122"/>
          <p:cNvSpPr>
            <a:spLocks noGrp="1"/>
          </p:cNvSpPr>
          <p:nvPr>
            <p:ph type="body" idx="1"/>
          </p:nvPr>
        </p:nvSpPr>
        <p:spPr>
          <a:xfrm>
            <a:off x="982132" y="2060713"/>
            <a:ext cx="7704668" cy="363099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/>
              <a:t>Provide people with a solution to find events according to their own time flexibility and taste</a:t>
            </a:r>
          </a:p>
          <a:p>
            <a:pPr lvl="0">
              <a:defRPr sz="1800"/>
            </a:pPr>
            <a:r>
              <a:rPr sz="2400"/>
              <a:t>Provide free promotion platform for event holders</a:t>
            </a:r>
          </a:p>
          <a:p>
            <a:pPr lvl="0">
              <a:defRPr sz="1800"/>
            </a:pPr>
            <a:r>
              <a:rPr sz="2400"/>
              <a:t>Reduce the waste of resource by linking the event participants with the event hosts more efficiently</a:t>
            </a:r>
          </a:p>
          <a:p>
            <a:pPr lvl="0">
              <a:defRPr sz="1800"/>
            </a:pPr>
            <a:r>
              <a:rPr sz="2400"/>
              <a:t>Assemble the existing scattered interest groups by grouping the events with categories and tags, especially sub cultures.</a:t>
            </a:r>
          </a:p>
        </p:txBody>
      </p:sp>
    </p:spTree>
    <p:extLst>
      <p:ext uri="{BB962C8B-B14F-4D97-AF65-F5344CB8AC3E}">
        <p14:creationId xmlns:p14="http://schemas.microsoft.com/office/powerpoint/2010/main" val="140567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How EVENTIFY works?</a:t>
            </a:r>
          </a:p>
        </p:txBody>
      </p:sp>
      <p:sp>
        <p:nvSpPr>
          <p:cNvPr id="126" name="Shape 126"/>
          <p:cNvSpPr>
            <a:spLocks noGrp="1"/>
          </p:cNvSpPr>
          <p:nvPr>
            <p:ph type="body" idx="1"/>
          </p:nvPr>
        </p:nvSpPr>
        <p:spPr>
          <a:xfrm>
            <a:off x="982132" y="1253669"/>
            <a:ext cx="7867338" cy="521063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 dirty="0"/>
              <a:t>Everyone: </a:t>
            </a:r>
          </a:p>
          <a:p>
            <a:pPr marL="742950" lvl="1" indent="-285750">
              <a:defRPr sz="1800"/>
            </a:pPr>
            <a:r>
              <a:rPr sz="2400" dirty="0"/>
              <a:t>Search events with genre/time/price filters, add the event to calendar</a:t>
            </a:r>
          </a:p>
          <a:p>
            <a:pPr marL="0" lvl="1" indent="228600">
              <a:buClrTx/>
              <a:buSzTx/>
              <a:buFontTx/>
              <a:buNone/>
              <a:defRPr sz="1800"/>
            </a:pPr>
            <a:endParaRPr sz="2400" dirty="0"/>
          </a:p>
          <a:p>
            <a:pPr lvl="0">
              <a:defRPr sz="1800"/>
            </a:pPr>
            <a:r>
              <a:rPr sz="2400" dirty="0"/>
              <a:t>Members :</a:t>
            </a:r>
          </a:p>
          <a:p>
            <a:pPr marL="742950" lvl="1" indent="-285750">
              <a:defRPr sz="1800"/>
            </a:pPr>
            <a:r>
              <a:rPr sz="2400" dirty="0"/>
              <a:t>can like/join/comment on/share events , </a:t>
            </a:r>
          </a:p>
          <a:p>
            <a:pPr marL="742950" lvl="1" indent="-285750">
              <a:defRPr sz="1800"/>
            </a:pPr>
            <a:r>
              <a:rPr sz="2400" dirty="0"/>
              <a:t>get personalized event recommendations</a:t>
            </a:r>
          </a:p>
          <a:p>
            <a:pPr marL="742950" lvl="1" indent="-285750">
              <a:defRPr sz="1800"/>
            </a:pPr>
            <a:r>
              <a:rPr sz="2400" dirty="0"/>
              <a:t>Notification to joiner (upcoming notifications, update information, host messages)</a:t>
            </a:r>
          </a:p>
        </p:txBody>
      </p:sp>
    </p:spTree>
    <p:extLst>
      <p:ext uri="{BB962C8B-B14F-4D97-AF65-F5344CB8AC3E}">
        <p14:creationId xmlns:p14="http://schemas.microsoft.com/office/powerpoint/2010/main" val="166487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How EVENTIFY works?</a:t>
            </a:r>
          </a:p>
        </p:txBody>
      </p:sp>
      <p:sp>
        <p:nvSpPr>
          <p:cNvPr id="129" name="Shape 129"/>
          <p:cNvSpPr>
            <a:spLocks noGrp="1"/>
          </p:cNvSpPr>
          <p:nvPr>
            <p:ph type="body" idx="1"/>
          </p:nvPr>
        </p:nvSpPr>
        <p:spPr>
          <a:xfrm>
            <a:off x="982132" y="1253669"/>
            <a:ext cx="7867338" cy="521063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 dirty="0"/>
              <a:t>Hosts: </a:t>
            </a:r>
          </a:p>
          <a:p>
            <a:pPr marL="742950" lvl="1" indent="-285750">
              <a:defRPr sz="1800"/>
            </a:pPr>
            <a:r>
              <a:rPr sz="2400" dirty="0"/>
              <a:t>Create Events, check how many participants, communicate with the participants</a:t>
            </a:r>
          </a:p>
          <a:p>
            <a:pPr marL="742950" lvl="1" indent="-285750">
              <a:defRPr sz="1800"/>
            </a:pPr>
            <a:r>
              <a:rPr sz="2400" dirty="0"/>
              <a:t>Manage Host Page: displaying passed/upcoming events,  self promotion materials</a:t>
            </a:r>
          </a:p>
        </p:txBody>
      </p:sp>
    </p:spTree>
    <p:extLst>
      <p:ext uri="{BB962C8B-B14F-4D97-AF65-F5344CB8AC3E}">
        <p14:creationId xmlns:p14="http://schemas.microsoft.com/office/powerpoint/2010/main" val="122246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User Requirements</a:t>
            </a:r>
            <a:endParaRPr lang="zh-HK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533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82133" y="137887"/>
            <a:ext cx="7704667" cy="762000"/>
          </a:xfrm>
        </p:spPr>
        <p:txBody>
          <a:bodyPr/>
          <a:lstStyle/>
          <a:p>
            <a:r>
              <a:rPr lang="en-US" altLang="zh-HK" dirty="0" smtClean="0"/>
              <a:t>Use Case Diagram</a:t>
            </a:r>
            <a:endParaRPr lang="zh-HK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491" y="899887"/>
            <a:ext cx="5153950" cy="5958113"/>
          </a:xfrm>
        </p:spPr>
      </p:pic>
    </p:spTree>
    <p:extLst>
      <p:ext uri="{BB962C8B-B14F-4D97-AF65-F5344CB8AC3E}">
        <p14:creationId xmlns:p14="http://schemas.microsoft.com/office/powerpoint/2010/main" val="327292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82133" y="137886"/>
            <a:ext cx="7704667" cy="1357085"/>
          </a:xfrm>
        </p:spPr>
        <p:txBody>
          <a:bodyPr/>
          <a:lstStyle/>
          <a:p>
            <a:r>
              <a:rPr lang="en-US" altLang="zh-HK" dirty="0" smtClean="0"/>
              <a:t>User Requirements</a:t>
            </a:r>
            <a:endParaRPr lang="zh-HK" alt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2798838" y="1248230"/>
            <a:ext cx="522514" cy="1023254"/>
            <a:chOff x="2387599" y="3077030"/>
            <a:chExt cx="522514" cy="1023254"/>
          </a:xfrm>
        </p:grpSpPr>
        <p:sp>
          <p:nvSpPr>
            <p:cNvPr id="4" name="橢圓 3"/>
            <p:cNvSpPr/>
            <p:nvPr/>
          </p:nvSpPr>
          <p:spPr>
            <a:xfrm>
              <a:off x="2467428" y="3077030"/>
              <a:ext cx="362857" cy="362857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6" name="直線接點 5"/>
            <p:cNvCxnSpPr/>
            <p:nvPr/>
          </p:nvCxnSpPr>
          <p:spPr>
            <a:xfrm>
              <a:off x="2387599" y="3657599"/>
              <a:ext cx="52251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/>
            <p:cNvCxnSpPr>
              <a:stCxn id="4" idx="4"/>
            </p:cNvCxnSpPr>
            <p:nvPr/>
          </p:nvCxnSpPr>
          <p:spPr>
            <a:xfrm>
              <a:off x="2648857" y="3439887"/>
              <a:ext cx="0" cy="4209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/>
            <p:cNvCxnSpPr/>
            <p:nvPr/>
          </p:nvCxnSpPr>
          <p:spPr>
            <a:xfrm flipH="1">
              <a:off x="2409372" y="3860800"/>
              <a:ext cx="239484" cy="2394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648856" y="3875312"/>
              <a:ext cx="224972" cy="2249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5086955" y="1248230"/>
            <a:ext cx="522514" cy="1023254"/>
            <a:chOff x="2387599" y="3077030"/>
            <a:chExt cx="522514" cy="1023254"/>
          </a:xfrm>
        </p:grpSpPr>
        <p:sp>
          <p:nvSpPr>
            <p:cNvPr id="16" name="橢圓 15"/>
            <p:cNvSpPr/>
            <p:nvPr/>
          </p:nvSpPr>
          <p:spPr>
            <a:xfrm>
              <a:off x="2467428" y="3077030"/>
              <a:ext cx="362857" cy="362857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2387599" y="3657599"/>
              <a:ext cx="52251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16" idx="4"/>
            </p:cNvCxnSpPr>
            <p:nvPr/>
          </p:nvCxnSpPr>
          <p:spPr>
            <a:xfrm>
              <a:off x="2648857" y="3439887"/>
              <a:ext cx="0" cy="4209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H="1">
              <a:off x="2409372" y="3860800"/>
              <a:ext cx="239484" cy="2394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648856" y="3875312"/>
              <a:ext cx="224972" cy="2249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7456410" y="1248230"/>
            <a:ext cx="522514" cy="1023254"/>
            <a:chOff x="2387599" y="3077030"/>
            <a:chExt cx="522514" cy="1023254"/>
          </a:xfrm>
        </p:grpSpPr>
        <p:sp>
          <p:nvSpPr>
            <p:cNvPr id="22" name="橢圓 21"/>
            <p:cNvSpPr/>
            <p:nvPr/>
          </p:nvSpPr>
          <p:spPr>
            <a:xfrm>
              <a:off x="2467428" y="3077030"/>
              <a:ext cx="362857" cy="362857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23" name="直線接點 22"/>
            <p:cNvCxnSpPr/>
            <p:nvPr/>
          </p:nvCxnSpPr>
          <p:spPr>
            <a:xfrm>
              <a:off x="2387599" y="3657599"/>
              <a:ext cx="52251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22" idx="4"/>
            </p:cNvCxnSpPr>
            <p:nvPr/>
          </p:nvCxnSpPr>
          <p:spPr>
            <a:xfrm>
              <a:off x="2648857" y="3439887"/>
              <a:ext cx="0" cy="4209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 flipH="1">
              <a:off x="2409372" y="3860800"/>
              <a:ext cx="239484" cy="2394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>
              <a:off x="2648856" y="3875312"/>
              <a:ext cx="224972" cy="2249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字方塊 26"/>
          <p:cNvSpPr txBox="1"/>
          <p:nvPr/>
        </p:nvSpPr>
        <p:spPr>
          <a:xfrm>
            <a:off x="2639181" y="2340426"/>
            <a:ext cx="84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 smtClean="0"/>
              <a:t>Visitor</a:t>
            </a:r>
            <a:endParaRPr lang="zh-HK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353984" y="2340426"/>
            <a:ext cx="198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 smtClean="0"/>
              <a:t>Normal Member</a:t>
            </a:r>
            <a:endParaRPr lang="zh-HK" altLang="en-US" dirty="0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280347" y="2869415"/>
          <a:ext cx="8701840" cy="3630617"/>
        </p:xfrm>
        <a:graphic>
          <a:graphicData uri="http://schemas.openxmlformats.org/drawingml/2006/table">
            <a:tbl>
              <a:tblPr firstCol="1" bandRow="1">
                <a:tableStyleId>{85BE263C-DBD7-4A20-BB59-AAB30ACAA65A}</a:tableStyleId>
              </a:tblPr>
              <a:tblGrid>
                <a:gridCol w="1567543"/>
                <a:gridCol w="2378099"/>
                <a:gridCol w="2378099"/>
                <a:gridCol w="2378099"/>
              </a:tblGrid>
              <a:tr h="944701">
                <a:tc>
                  <a:txBody>
                    <a:bodyPr/>
                    <a:lstStyle/>
                    <a:p>
                      <a:r>
                        <a:rPr lang="en-US" altLang="zh-HK" dirty="0" smtClean="0"/>
                        <a:t>For</a:t>
                      </a:r>
                      <a:r>
                        <a:rPr lang="en-US" altLang="zh-HK" baseline="0" dirty="0" smtClean="0"/>
                        <a:t> all users</a:t>
                      </a:r>
                      <a:endParaRPr lang="zh-HK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dirty="0" smtClean="0">
                          <a:solidFill>
                            <a:schemeClr val="tx1"/>
                          </a:solidFill>
                        </a:rPr>
                        <a:t>search and view host</a:t>
                      </a:r>
                      <a:r>
                        <a:rPr lang="en-US" altLang="zh-HK" baseline="0" dirty="0" smtClean="0">
                          <a:solidFill>
                            <a:schemeClr val="tx1"/>
                          </a:solidFill>
                        </a:rPr>
                        <a:t> page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dirty="0" smtClean="0">
                          <a:solidFill>
                            <a:schemeClr val="tx1"/>
                          </a:solidFill>
                        </a:rPr>
                        <a:t>search and view </a:t>
                      </a:r>
                      <a:r>
                        <a:rPr lang="en-US" altLang="zh-HK" baseline="0" dirty="0" smtClean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baseline="0" dirty="0" smtClean="0"/>
                        <a:t>add event to calendar</a:t>
                      </a:r>
                      <a:endParaRPr lang="zh-HK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</a:tr>
              <a:tr h="1497196">
                <a:tc>
                  <a:txBody>
                    <a:bodyPr/>
                    <a:lstStyle/>
                    <a:p>
                      <a:r>
                        <a:rPr lang="en-US" altLang="zh-HK" dirty="0" smtClean="0"/>
                        <a:t>For members</a:t>
                      </a:r>
                      <a:endParaRPr lang="zh-HK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dirty="0" smtClean="0"/>
                        <a:t>like,</a:t>
                      </a:r>
                      <a:r>
                        <a:rPr lang="en-US" altLang="zh-HK" baseline="0" dirty="0" smtClean="0"/>
                        <a:t> comment on and share event/host page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baseline="0" dirty="0" smtClean="0"/>
                        <a:t>join event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baseline="0" dirty="0" smtClean="0"/>
                        <a:t>get event recommendation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baseline="0" dirty="0" smtClean="0"/>
                        <a:t>receive notification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baseline="0" dirty="0" smtClean="0"/>
                        <a:t>add feedback</a:t>
                      </a:r>
                      <a:endParaRPr lang="zh-HK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/>
                </a:tc>
              </a:tr>
              <a:tr h="607196">
                <a:tc>
                  <a:txBody>
                    <a:bodyPr/>
                    <a:lstStyle/>
                    <a:p>
                      <a:r>
                        <a:rPr lang="en-US" altLang="zh-HK" dirty="0" smtClean="0"/>
                        <a:t>For individual type of</a:t>
                      </a:r>
                      <a:r>
                        <a:rPr lang="en-US" altLang="zh-HK" baseline="0" dirty="0" smtClean="0"/>
                        <a:t> users</a:t>
                      </a:r>
                      <a:endParaRPr lang="zh-HK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dirty="0" smtClean="0"/>
                        <a:t>register for member account</a:t>
                      </a:r>
                      <a:endParaRPr lang="zh-HK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dirty="0" smtClean="0"/>
                        <a:t>upgrade to host account</a:t>
                      </a:r>
                      <a:endParaRPr lang="zh-HK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dirty="0" smtClean="0"/>
                        <a:t>create and manage event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dirty="0" smtClean="0"/>
                        <a:t>manage host page</a:t>
                      </a:r>
                    </a:p>
                    <a:p>
                      <a:endParaRPr lang="zh-HK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文字方塊 30"/>
          <p:cNvSpPr txBox="1"/>
          <p:nvPr/>
        </p:nvSpPr>
        <p:spPr>
          <a:xfrm>
            <a:off x="6723439" y="2340426"/>
            <a:ext cx="198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 smtClean="0"/>
              <a:t>Approved Member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36770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82133" y="137886"/>
            <a:ext cx="7704667" cy="1357085"/>
          </a:xfrm>
        </p:spPr>
        <p:txBody>
          <a:bodyPr/>
          <a:lstStyle/>
          <a:p>
            <a:r>
              <a:rPr lang="en-US" altLang="zh-HK" dirty="0" smtClean="0"/>
              <a:t>User Requirements</a:t>
            </a:r>
            <a:endParaRPr lang="zh-HK" altLang="en-US" dirty="0"/>
          </a:p>
        </p:txBody>
      </p:sp>
      <p:grpSp>
        <p:nvGrpSpPr>
          <p:cNvPr id="15" name="群組 14"/>
          <p:cNvGrpSpPr/>
          <p:nvPr/>
        </p:nvGrpSpPr>
        <p:grpSpPr>
          <a:xfrm>
            <a:off x="4573209" y="1494970"/>
            <a:ext cx="522514" cy="1023254"/>
            <a:chOff x="2387599" y="3077030"/>
            <a:chExt cx="522514" cy="1023254"/>
          </a:xfrm>
        </p:grpSpPr>
        <p:sp>
          <p:nvSpPr>
            <p:cNvPr id="16" name="橢圓 15"/>
            <p:cNvSpPr/>
            <p:nvPr/>
          </p:nvSpPr>
          <p:spPr>
            <a:xfrm>
              <a:off x="2467428" y="3077030"/>
              <a:ext cx="362857" cy="362857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17" name="直線接點 16"/>
            <p:cNvCxnSpPr/>
            <p:nvPr/>
          </p:nvCxnSpPr>
          <p:spPr>
            <a:xfrm>
              <a:off x="2387599" y="3657599"/>
              <a:ext cx="52251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16" idx="4"/>
            </p:cNvCxnSpPr>
            <p:nvPr/>
          </p:nvCxnSpPr>
          <p:spPr>
            <a:xfrm>
              <a:off x="2648857" y="3439887"/>
              <a:ext cx="0" cy="4209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H="1">
              <a:off x="2409372" y="3860800"/>
              <a:ext cx="239484" cy="2394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648856" y="3875312"/>
              <a:ext cx="224972" cy="2249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字方塊 27"/>
          <p:cNvSpPr txBox="1"/>
          <p:nvPr/>
        </p:nvSpPr>
        <p:spPr>
          <a:xfrm>
            <a:off x="4005035" y="2577680"/>
            <a:ext cx="1658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dirty="0" smtClean="0"/>
              <a:t>Administer</a:t>
            </a:r>
            <a:endParaRPr lang="zh-HK" altLang="en-US" sz="2400" dirty="0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/>
          </p:nvPr>
        </p:nvGraphicFramePr>
        <p:xfrm>
          <a:off x="1293704" y="3326554"/>
          <a:ext cx="7081524" cy="2834640"/>
        </p:xfrm>
        <a:graphic>
          <a:graphicData uri="http://schemas.openxmlformats.org/drawingml/2006/table">
            <a:tbl>
              <a:tblPr firstCol="1" bandRow="1">
                <a:tableStyleId>{85BE263C-DBD7-4A20-BB59-AAB30ACAA65A}</a:tableStyleId>
              </a:tblPr>
              <a:tblGrid>
                <a:gridCol w="3540762"/>
                <a:gridCol w="3540762"/>
              </a:tblGrid>
              <a:tr h="178585">
                <a:tc>
                  <a:txBody>
                    <a:bodyPr/>
                    <a:lstStyle/>
                    <a:p>
                      <a:r>
                        <a:rPr lang="en-US" altLang="zh-HK" sz="2400" dirty="0" smtClean="0"/>
                        <a:t>Account operation</a:t>
                      </a:r>
                      <a:endParaRPr lang="zh-HK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2400" dirty="0" smtClean="0"/>
                        <a:t>validate identification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HK" sz="2400" dirty="0" smtClean="0"/>
                        <a:t>ban</a:t>
                      </a:r>
                      <a:r>
                        <a:rPr lang="en-US" altLang="zh-HK" sz="2400" baseline="0" dirty="0" smtClean="0"/>
                        <a:t> invalid account</a:t>
                      </a:r>
                      <a:endParaRPr lang="zh-HK" altLang="en-US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284">
                <a:tc>
                  <a:txBody>
                    <a:bodyPr/>
                    <a:lstStyle/>
                    <a:p>
                      <a:r>
                        <a:rPr lang="en-US" altLang="zh-HK" sz="2400" dirty="0" smtClean="0"/>
                        <a:t>Comments and reports management</a:t>
                      </a:r>
                      <a:endParaRPr lang="zh-HK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2400" dirty="0" smtClean="0"/>
                        <a:t>check feedback</a:t>
                      </a:r>
                      <a:endParaRPr lang="zh-HK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196">
                <a:tc>
                  <a:txBody>
                    <a:bodyPr/>
                    <a:lstStyle/>
                    <a:p>
                      <a:r>
                        <a:rPr lang="en-US" altLang="zh-HK" sz="2400" dirty="0" smtClean="0"/>
                        <a:t>Host page and event management</a:t>
                      </a:r>
                      <a:endParaRPr lang="zh-HK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2400" dirty="0" smtClean="0">
                          <a:solidFill>
                            <a:schemeClr val="tx1"/>
                          </a:solidFill>
                        </a:rPr>
                        <a:t>view event/host page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2400" dirty="0" smtClean="0"/>
                        <a:t>delete post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HK" sz="2400" dirty="0" smtClean="0"/>
                        <a:t>delete event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927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/>
          </p:nvPr>
        </p:nvGraphicFramePr>
        <p:xfrm>
          <a:off x="290286" y="777240"/>
          <a:ext cx="8665027" cy="6080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8075"/>
                <a:gridCol w="3298476"/>
                <a:gridCol w="3298476"/>
              </a:tblGrid>
              <a:tr h="2659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Use Case Name:</a:t>
                      </a:r>
                      <a:endParaRPr lang="zh-TW" sz="1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Send Notification to joiner</a:t>
                      </a:r>
                      <a:endParaRPr lang="zh-TW" sz="1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659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Actor(s):</a:t>
                      </a:r>
                      <a:endParaRPr lang="zh-TW" sz="1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Approved Member</a:t>
                      </a:r>
                      <a:endParaRPr lang="zh-TW" sz="1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5318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Description:</a:t>
                      </a:r>
                      <a:endParaRPr lang="zh-TW" sz="1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This use case describes the process of an Approved Member send a message to member who joined the event.</a:t>
                      </a:r>
                      <a:endParaRPr lang="zh-TW" sz="1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47864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>
                          <a:effectLst/>
                        </a:rPr>
                        <a:t>Typical Course of Events:</a:t>
                      </a:r>
                      <a:endParaRPr lang="zh-TW" sz="19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Actor Action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Step 1: This use case is initialed when an Approved Member select this function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Step 3: Approved Member type in the message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Step 5: Approved Member confirm detail</a:t>
                      </a:r>
                      <a:endParaRPr lang="zh-TW" sz="1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System Response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Step 2: The system provide an interface for receiving message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Step 4: An preview which display the content seen by receiver is shown to Approved Member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 </a:t>
                      </a:r>
                      <a:endParaRPr lang="zh-TW" sz="19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900" kern="100" dirty="0">
                          <a:effectLst/>
                        </a:rPr>
                        <a:t>Step 6: The system make a notification to members who joined the event</a:t>
                      </a:r>
                      <a:endParaRPr lang="zh-TW" sz="1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</a:tr>
            </a:tbl>
          </a:graphicData>
        </a:graphic>
      </p:graphicFrame>
      <p:sp>
        <p:nvSpPr>
          <p:cNvPr id="5" name="標題 1"/>
          <p:cNvSpPr txBox="1">
            <a:spLocks/>
          </p:cNvSpPr>
          <p:nvPr/>
        </p:nvSpPr>
        <p:spPr>
          <a:xfrm>
            <a:off x="982133" y="0"/>
            <a:ext cx="7704667" cy="76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HK" dirty="0"/>
              <a:t>Use Case Specification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8437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/>
          </p:nvPr>
        </p:nvGraphicFramePr>
        <p:xfrm>
          <a:off x="674914" y="1378859"/>
          <a:ext cx="8011886" cy="48991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7886"/>
                <a:gridCol w="5334000"/>
              </a:tblGrid>
              <a:tr h="694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Use Case Name:</a:t>
                      </a:r>
                      <a:endParaRPr lang="zh-TW" sz="2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Send Notification to joiner</a:t>
                      </a:r>
                      <a:endParaRPr lang="zh-TW" sz="2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</a:tr>
              <a:tr h="20838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Alternate Courses:</a:t>
                      </a:r>
                      <a:endParaRPr lang="zh-TW" sz="2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Step 5a: Approved Member want to edit the message, system back to Step 3, Approved Member edit the message</a:t>
                      </a:r>
                      <a:endParaRPr lang="zh-TW" sz="2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</a:tr>
              <a:tr h="694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Precondition: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At least one participant joined the event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</a:tr>
              <a:tr h="694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Postcondition: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Use case “Host message notification” is performed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</a:tr>
              <a:tr h="694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Assumptions: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An event is selected to manage</a:t>
                      </a:r>
                      <a:endParaRPr lang="zh-TW" sz="2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76744" marR="76744" marT="0" marB="0"/>
                </a:tc>
              </a:tr>
            </a:tbl>
          </a:graphicData>
        </a:graphic>
      </p:graphicFrame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1134533" y="290287"/>
            <a:ext cx="7704667" cy="762000"/>
          </a:xfrm>
        </p:spPr>
        <p:txBody>
          <a:bodyPr/>
          <a:lstStyle/>
          <a:p>
            <a:r>
              <a:rPr lang="en-US" altLang="zh-HK" dirty="0"/>
              <a:t>Use Case Specification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78751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982133" y="0"/>
            <a:ext cx="7704667" cy="76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HK" dirty="0"/>
              <a:t>Use Case Specification</a:t>
            </a:r>
            <a:endParaRPr lang="zh-HK" altLang="en-US" dirty="0"/>
          </a:p>
        </p:txBody>
      </p:sp>
      <p:graphicFrame>
        <p:nvGraphicFramePr>
          <p:cNvPr id="3" name="內容版面配置區 2"/>
          <p:cNvGraphicFramePr>
            <a:graphicFrameLocks noGrp="1"/>
          </p:cNvGraphicFramePr>
          <p:nvPr>
            <p:ph idx="1"/>
            <p:extLst/>
          </p:nvPr>
        </p:nvGraphicFramePr>
        <p:xfrm>
          <a:off x="140302" y="761998"/>
          <a:ext cx="8756954" cy="60960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0016"/>
                <a:gridCol w="3333469"/>
                <a:gridCol w="3333469"/>
              </a:tblGrid>
              <a:tr h="2902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Use Case Name: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Host Message Notification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902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Actor(s):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Member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5805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Description: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This use case describes the process of a member receive the message sent by event holder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9028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Typical Course of Events: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Actor Action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3: The member read the message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System Response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1: This use case is initialed when a new message is made by </a:t>
                      </a:r>
                      <a:r>
                        <a:rPr lang="en-US" sz="1800" kern="100" dirty="0" smtClean="0">
                          <a:effectLst/>
                        </a:rPr>
                        <a:t>host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2: The system send a reminder to members for receiving new message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</a:tr>
              <a:tr h="5805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Alternate Courses: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Step 2a: [Extension point: if the member disable the notification, the reminder will disabled]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8708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Precondition: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The member joined the event</a:t>
                      </a:r>
                      <a:endParaRPr lang="zh-TW" sz="18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Approved Member holding the event execute use case “Send Notification to Joiner”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902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Postcondition: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The member acknowledge the message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902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Assumptions: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Nil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9503" marR="59503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0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982133" y="0"/>
            <a:ext cx="7704667" cy="76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HK" dirty="0"/>
              <a:t>Use Case Specification</a:t>
            </a:r>
            <a:endParaRPr lang="zh-HK" altLang="en-US" dirty="0"/>
          </a:p>
        </p:txBody>
      </p:sp>
      <p:graphicFrame>
        <p:nvGraphicFramePr>
          <p:cNvPr id="3" name="內容版面配置區 2"/>
          <p:cNvGraphicFramePr>
            <a:graphicFrameLocks noGrp="1"/>
          </p:cNvGraphicFramePr>
          <p:nvPr>
            <p:ph idx="1"/>
            <p:extLst/>
          </p:nvPr>
        </p:nvGraphicFramePr>
        <p:xfrm>
          <a:off x="114413" y="761999"/>
          <a:ext cx="8855417" cy="6096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32101"/>
                <a:gridCol w="3280229"/>
                <a:gridCol w="3643087"/>
              </a:tblGrid>
              <a:tr h="2770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Use Case Name: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Add feedback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770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Actor(s):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Member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5541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Description: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This use case describes the process of a member giving feedback, whether positive or negative, concerning a particular post or page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4987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Typical Course of Events: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Actor Action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1: This use case is initialed when the member sees a page or post to report </a:t>
                      </a:r>
                      <a:r>
                        <a:rPr lang="en-US" sz="1800" kern="100" dirty="0" smtClean="0">
                          <a:effectLst/>
                        </a:rPr>
                        <a:t>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2: The member hits the feedback button and types in the content in the feedback </a:t>
                      </a:r>
                      <a:r>
                        <a:rPr lang="en-US" sz="1800" kern="100" dirty="0" smtClean="0">
                          <a:effectLst/>
                        </a:rPr>
                        <a:t>window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3: The member chooses to either report the feedback anonymously or by </a:t>
                      </a:r>
                      <a:r>
                        <a:rPr lang="en-US" sz="1800" kern="100" dirty="0" smtClean="0">
                          <a:effectLst/>
                        </a:rPr>
                        <a:t>name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4: the member hits submit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System Response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US" sz="1800" kern="100" dirty="0" smtClean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altLang="zh-TW" sz="1800" kern="100" dirty="0" smtClean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altLang="zh-TW" sz="1800" kern="100" dirty="0" smtClean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5: The system processes the feedback, submits it to the feedback list, and returns “successfully submitted”.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69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1134533" y="290287"/>
            <a:ext cx="7704667" cy="762000"/>
          </a:xfrm>
        </p:spPr>
        <p:txBody>
          <a:bodyPr/>
          <a:lstStyle/>
          <a:p>
            <a:r>
              <a:rPr lang="en-US" altLang="zh-HK" dirty="0"/>
              <a:t>Use Case Specification</a:t>
            </a:r>
            <a:endParaRPr lang="zh-HK" altLang="en-US" dirty="0"/>
          </a:p>
        </p:txBody>
      </p:sp>
      <p:graphicFrame>
        <p:nvGraphicFramePr>
          <p:cNvPr id="3" name="內容版面配置區 2"/>
          <p:cNvGraphicFramePr>
            <a:graphicFrameLocks noGrp="1"/>
          </p:cNvGraphicFramePr>
          <p:nvPr>
            <p:ph idx="1"/>
            <p:extLst/>
          </p:nvPr>
        </p:nvGraphicFramePr>
        <p:xfrm>
          <a:off x="449944" y="1277258"/>
          <a:ext cx="8215085" cy="48042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69028"/>
                <a:gridCol w="5646057"/>
              </a:tblGrid>
              <a:tr h="6005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Use Case Name: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Add feedback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</a:tr>
              <a:tr h="240211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Alternate Courses:</a:t>
                      </a:r>
                      <a:endParaRPr lang="zh-TW" sz="2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Step 4a: if the member hits cancel, the feedback editor will be closed without further actions</a:t>
                      </a:r>
                      <a:endParaRPr lang="zh-TW" sz="24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Step 5a: If error occurs during submission, the system returns “Submission error. Please try again”</a:t>
                      </a:r>
                      <a:endParaRPr lang="zh-TW" sz="2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</a:tr>
              <a:tr h="6005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Precondition: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Nil</a:t>
                      </a:r>
                      <a:endParaRPr lang="zh-TW" sz="2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</a:tr>
              <a:tr h="6005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Postcondition: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Invoke the use case “Update Feedbacklist”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</a:tr>
              <a:tr h="6005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Assumptions:</a:t>
                      </a:r>
                      <a:endParaRPr lang="zh-TW" sz="24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Nil</a:t>
                      </a:r>
                      <a:endParaRPr lang="zh-TW" sz="2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41652" marR="4165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71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 txBox="1">
            <a:spLocks/>
          </p:cNvSpPr>
          <p:nvPr/>
        </p:nvSpPr>
        <p:spPr>
          <a:xfrm>
            <a:off x="982133" y="0"/>
            <a:ext cx="7704667" cy="76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HK" dirty="0"/>
              <a:t>Use Case Specification</a:t>
            </a:r>
            <a:endParaRPr lang="zh-HK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/>
          </p:nvPr>
        </p:nvGraphicFramePr>
        <p:xfrm>
          <a:off x="113259" y="761996"/>
          <a:ext cx="8885597" cy="60458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0719"/>
                <a:gridCol w="3382439"/>
                <a:gridCol w="3382439"/>
              </a:tblGrid>
              <a:tr h="2596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Use Case Name: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Check feedback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596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Actor(s):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Administer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779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Description: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This use case describes the process of an administer reviewing feedback regarding a particular post or page from a member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59679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Typical Course of Events: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Actor Action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1: This use case is initialed when the administer receives a notification to check the new feedbacks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2: The administer reviews the feedback and gives a decision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3: The administer submits the decision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System Response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</a:tr>
              <a:tr h="12983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Alternate Courses: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2a: </a:t>
                      </a:r>
                      <a:r>
                        <a:rPr lang="en-US" sz="1800" kern="100" dirty="0" smtClean="0">
                          <a:effectLst/>
                        </a:rPr>
                        <a:t>If </a:t>
                      </a:r>
                      <a:r>
                        <a:rPr lang="en-US" sz="1800" kern="100" dirty="0">
                          <a:effectLst/>
                        </a:rPr>
                        <a:t>the </a:t>
                      </a:r>
                      <a:r>
                        <a:rPr lang="en-US" sz="1800" kern="100" dirty="0" smtClean="0">
                          <a:effectLst/>
                        </a:rPr>
                        <a:t>administer </a:t>
                      </a:r>
                      <a:r>
                        <a:rPr lang="en-US" sz="1800" kern="100" dirty="0">
                          <a:effectLst/>
                        </a:rPr>
                        <a:t>decides that the page or post is improper, the </a:t>
                      </a:r>
                      <a:r>
                        <a:rPr lang="en-US" sz="1800" kern="100" dirty="0" smtClean="0">
                          <a:effectLst/>
                        </a:rPr>
                        <a:t>administer </a:t>
                      </a:r>
                      <a:r>
                        <a:rPr lang="en-US" sz="1800" kern="100" dirty="0">
                          <a:effectLst/>
                        </a:rPr>
                        <a:t>can decide to delete the page or </a:t>
                      </a:r>
                      <a:r>
                        <a:rPr lang="en-US" sz="1800" kern="100" dirty="0" smtClean="0">
                          <a:effectLst/>
                        </a:rPr>
                        <a:t>post</a:t>
                      </a:r>
                      <a:endParaRPr lang="zh-TW" sz="18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Step 3a: </a:t>
                      </a:r>
                      <a:r>
                        <a:rPr lang="en-US" sz="1800" kern="100" dirty="0" smtClean="0">
                          <a:effectLst/>
                        </a:rPr>
                        <a:t>If </a:t>
                      </a:r>
                      <a:r>
                        <a:rPr lang="en-US" sz="1800" kern="100" dirty="0">
                          <a:effectLst/>
                        </a:rPr>
                        <a:t>error occurs during submission, the system returns “Submission error. Please try again</a:t>
                      </a:r>
                      <a:r>
                        <a:rPr lang="en-US" sz="1800" kern="100" dirty="0" smtClean="0">
                          <a:effectLst/>
                        </a:rPr>
                        <a:t>”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596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Precondition: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There is one or more feedback submitted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596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Postcondition: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Invoke the use case “Update Feedbacklist”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  <a:tr h="2596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Assumptions: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Nil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56798" marR="56798" marT="0" marB="0"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52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Software Design</a:t>
            </a:r>
            <a:br>
              <a:rPr lang="en-US" altLang="zh-HK" dirty="0" smtClean="0"/>
            </a:br>
            <a:r>
              <a:rPr lang="en-US" altLang="zh-HK" dirty="0" smtClean="0"/>
              <a:t>Object Modelling</a:t>
            </a:r>
            <a:endParaRPr lang="zh-HK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5703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Class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4971"/>
            <a:ext cx="9144000" cy="517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5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 dirty="0"/>
              <a:t>Design </a:t>
            </a:r>
            <a:r>
              <a:rPr sz="4000" dirty="0" smtClean="0"/>
              <a:t>Principle</a:t>
            </a:r>
            <a:r>
              <a:rPr lang="en-US" sz="4000" dirty="0" smtClean="0"/>
              <a:t>s</a:t>
            </a:r>
            <a:r>
              <a:rPr sz="4000" dirty="0" smtClean="0"/>
              <a:t> </a:t>
            </a:r>
            <a:r>
              <a:rPr sz="4000" dirty="0"/>
              <a:t>Applied</a:t>
            </a:r>
          </a:p>
        </p:txBody>
      </p:sp>
      <p:sp>
        <p:nvSpPr>
          <p:cNvPr id="138" name="Shape 138"/>
          <p:cNvSpPr>
            <a:spLocks noGrp="1"/>
          </p:cNvSpPr>
          <p:nvPr>
            <p:ph type="body" idx="1"/>
          </p:nvPr>
        </p:nvSpPr>
        <p:spPr>
          <a:xfrm>
            <a:off x="982132" y="1494969"/>
            <a:ext cx="7704668" cy="5210631"/>
          </a:xfrm>
          <a:prstGeom prst="rect">
            <a:avLst/>
          </a:prstGeom>
        </p:spPr>
        <p:txBody>
          <a:bodyPr/>
          <a:lstStyle/>
          <a:p>
            <a:pPr marL="333375" lvl="0" indent="-333375">
              <a:defRPr sz="1800"/>
            </a:pPr>
            <a:r>
              <a:rPr sz="2800" dirty="0" smtClean="0"/>
              <a:t>Open-</a:t>
            </a:r>
            <a:r>
              <a:rPr lang="en-US" sz="2800" dirty="0" smtClean="0"/>
              <a:t>C</a:t>
            </a:r>
            <a:r>
              <a:rPr sz="2800" dirty="0" smtClean="0"/>
              <a:t>losed</a:t>
            </a:r>
            <a:endParaRPr sz="2800" dirty="0"/>
          </a:p>
          <a:p>
            <a:pPr marL="333375" lvl="0" indent="-333375">
              <a:defRPr sz="1800"/>
            </a:pPr>
            <a:r>
              <a:rPr sz="2800" dirty="0" err="1"/>
              <a:t>Liskov</a:t>
            </a:r>
            <a:r>
              <a:rPr sz="2800" dirty="0"/>
              <a:t> Substitution </a:t>
            </a:r>
          </a:p>
          <a:p>
            <a:pPr marL="333375" lvl="0" indent="-333375">
              <a:defRPr sz="1800"/>
            </a:pPr>
            <a:r>
              <a:rPr sz="2800" dirty="0"/>
              <a:t>Dependency Inversion </a:t>
            </a:r>
          </a:p>
          <a:p>
            <a:pPr marL="333375" lvl="0" indent="-333375">
              <a:defRPr sz="1800"/>
            </a:pPr>
            <a:r>
              <a:rPr sz="2800" dirty="0"/>
              <a:t>Law of Demeter</a:t>
            </a:r>
          </a:p>
        </p:txBody>
      </p:sp>
    </p:spTree>
    <p:extLst>
      <p:ext uri="{BB962C8B-B14F-4D97-AF65-F5344CB8AC3E}">
        <p14:creationId xmlns:p14="http://schemas.microsoft.com/office/powerpoint/2010/main" val="286565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 dirty="0" smtClean="0"/>
              <a:t>Open-Closed </a:t>
            </a:r>
            <a:r>
              <a:rPr sz="4000" dirty="0"/>
              <a:t>Principle</a:t>
            </a:r>
          </a:p>
        </p:txBody>
      </p:sp>
      <p:sp>
        <p:nvSpPr>
          <p:cNvPr id="141" name="Shape 141"/>
          <p:cNvSpPr>
            <a:spLocks noGrp="1"/>
          </p:cNvSpPr>
          <p:nvPr>
            <p:ph type="body" idx="1"/>
          </p:nvPr>
        </p:nvSpPr>
        <p:spPr>
          <a:xfrm>
            <a:off x="982132" y="1494969"/>
            <a:ext cx="7704668" cy="521063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 dirty="0"/>
              <a:t>Easy to extend</a:t>
            </a:r>
          </a:p>
          <a:p>
            <a:pPr lvl="0">
              <a:defRPr sz="1800"/>
            </a:pPr>
            <a:r>
              <a:rPr sz="2400" dirty="0"/>
              <a:t>New function, [Share]:</a:t>
            </a:r>
          </a:p>
          <a:p>
            <a:pPr marL="742950" lvl="1" indent="-285750">
              <a:defRPr sz="1800"/>
            </a:pPr>
            <a:r>
              <a:rPr sz="2000" dirty="0"/>
              <a:t>public class Share implements Command</a:t>
            </a:r>
          </a:p>
          <a:p>
            <a:pPr lvl="0">
              <a:defRPr sz="1800"/>
            </a:pPr>
            <a:r>
              <a:rPr sz="2400" dirty="0"/>
              <a:t>New user type, [Mod]</a:t>
            </a:r>
          </a:p>
          <a:p>
            <a:pPr marL="742950" lvl="1" indent="-285750">
              <a:defRPr sz="1800"/>
            </a:pPr>
            <a:r>
              <a:rPr sz="2000" dirty="0"/>
              <a:t>public class Mod extends User </a:t>
            </a:r>
          </a:p>
          <a:p>
            <a:pPr marL="742950" lvl="1" indent="-285750">
              <a:defRPr sz="1800"/>
            </a:pPr>
            <a:r>
              <a:rPr sz="2000" dirty="0"/>
              <a:t>public class </a:t>
            </a:r>
            <a:r>
              <a:rPr sz="2000" dirty="0" err="1"/>
              <a:t>ModFactory</a:t>
            </a:r>
            <a:r>
              <a:rPr sz="2000" dirty="0"/>
              <a:t> extends </a:t>
            </a:r>
            <a:r>
              <a:rPr sz="2000" dirty="0" err="1"/>
              <a:t>UserFactory</a:t>
            </a:r>
            <a:endParaRPr sz="2000" dirty="0"/>
          </a:p>
          <a:p>
            <a:pPr lvl="0">
              <a:defRPr sz="1800"/>
            </a:pPr>
            <a:r>
              <a:rPr sz="2400" dirty="0"/>
              <a:t>Original code remains unaffected </a:t>
            </a:r>
          </a:p>
        </p:txBody>
      </p:sp>
      <p:sp>
        <p:nvSpPr>
          <p:cNvPr id="142" name="Shape 142"/>
          <p:cNvSpPr/>
          <p:nvPr/>
        </p:nvSpPr>
        <p:spPr>
          <a:xfrm>
            <a:off x="1790163" y="1339231"/>
            <a:ext cx="5223642" cy="855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rPr i="1" dirty="0"/>
              <a:t>“Software entities like classes, modules and functions</a:t>
            </a:r>
          </a:p>
          <a:p>
            <a:pPr lvl="0"/>
            <a:r>
              <a:rPr i="1" dirty="0"/>
              <a:t> should be open for extension but closed for modifications.”</a:t>
            </a:r>
          </a:p>
        </p:txBody>
      </p:sp>
    </p:spTree>
    <p:extLst>
      <p:ext uri="{BB962C8B-B14F-4D97-AF65-F5344CB8AC3E}">
        <p14:creationId xmlns:p14="http://schemas.microsoft.com/office/powerpoint/2010/main" val="49171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 dirty="0" err="1"/>
              <a:t>Liskov</a:t>
            </a:r>
            <a:r>
              <a:rPr sz="4000" dirty="0"/>
              <a:t> Substitution Principle</a:t>
            </a:r>
          </a:p>
        </p:txBody>
      </p:sp>
      <p:sp>
        <p:nvSpPr>
          <p:cNvPr id="145" name="Shape 145"/>
          <p:cNvSpPr>
            <a:spLocks noGrp="1"/>
          </p:cNvSpPr>
          <p:nvPr>
            <p:ph type="body" idx="1"/>
          </p:nvPr>
        </p:nvSpPr>
        <p:spPr>
          <a:xfrm>
            <a:off x="982133" y="1494969"/>
            <a:ext cx="7918027" cy="521063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 dirty="0"/>
              <a:t>Every subclass can fully utilize operations provided by its super class</a:t>
            </a:r>
          </a:p>
          <a:p>
            <a:pPr lvl="0">
              <a:defRPr sz="1800"/>
            </a:pPr>
            <a:r>
              <a:rPr sz="2400" dirty="0"/>
              <a:t>All concrete </a:t>
            </a:r>
            <a:r>
              <a:rPr sz="2400" i="1" dirty="0"/>
              <a:t>User</a:t>
            </a:r>
            <a:r>
              <a:rPr sz="2400" dirty="0"/>
              <a:t> subclasses use the superclass’s functions</a:t>
            </a:r>
          </a:p>
          <a:p>
            <a:pPr lvl="0">
              <a:defRPr sz="1800"/>
            </a:pPr>
            <a:r>
              <a:rPr sz="2400" dirty="0"/>
              <a:t>Both </a:t>
            </a:r>
            <a:r>
              <a:rPr sz="2400" i="1" dirty="0" err="1"/>
              <a:t>HostPage</a:t>
            </a:r>
            <a:r>
              <a:rPr sz="2400" i="1" dirty="0"/>
              <a:t> &amp; </a:t>
            </a:r>
            <a:r>
              <a:rPr sz="2400" i="1" dirty="0" err="1"/>
              <a:t>EventPage</a:t>
            </a:r>
            <a:r>
              <a:rPr sz="2400" i="1" dirty="0"/>
              <a:t> </a:t>
            </a:r>
            <a:r>
              <a:rPr sz="2400" dirty="0"/>
              <a:t>utilize </a:t>
            </a:r>
            <a:r>
              <a:rPr sz="2400" i="1" dirty="0"/>
              <a:t>Page</a:t>
            </a:r>
            <a:r>
              <a:rPr sz="2400" dirty="0"/>
              <a:t> ‘s functions</a:t>
            </a:r>
          </a:p>
          <a:p>
            <a:pPr lvl="0">
              <a:defRPr sz="1800"/>
            </a:pPr>
            <a:r>
              <a:rPr sz="2400" dirty="0"/>
              <a:t>Concrete </a:t>
            </a:r>
            <a:r>
              <a:rPr sz="2400" i="1" dirty="0" err="1"/>
              <a:t>UserFactory</a:t>
            </a:r>
            <a:r>
              <a:rPr sz="2400" i="1" dirty="0"/>
              <a:t> &amp; Command</a:t>
            </a:r>
            <a:r>
              <a:rPr sz="2400" dirty="0"/>
              <a:t> classed </a:t>
            </a:r>
          </a:p>
        </p:txBody>
      </p:sp>
      <p:sp>
        <p:nvSpPr>
          <p:cNvPr id="146" name="Shape 146"/>
          <p:cNvSpPr/>
          <p:nvPr/>
        </p:nvSpPr>
        <p:spPr>
          <a:xfrm>
            <a:off x="1637115" y="1494969"/>
            <a:ext cx="6103887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/>
            </a:lvl1pPr>
          </a:lstStyle>
          <a:p>
            <a:pPr lvl="0">
              <a:defRPr i="0"/>
            </a:pPr>
            <a:r>
              <a:rPr i="1" dirty="0"/>
              <a:t>“Derived types must be completely substitutable for their base types.”</a:t>
            </a:r>
          </a:p>
        </p:txBody>
      </p:sp>
    </p:spTree>
    <p:extLst>
      <p:ext uri="{BB962C8B-B14F-4D97-AF65-F5344CB8AC3E}">
        <p14:creationId xmlns:p14="http://schemas.microsoft.com/office/powerpoint/2010/main" val="215717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 dirty="0"/>
              <a:t>Dependency Inversion Principle </a:t>
            </a:r>
          </a:p>
        </p:txBody>
      </p:sp>
      <p:sp>
        <p:nvSpPr>
          <p:cNvPr id="149" name="Shape 149"/>
          <p:cNvSpPr>
            <a:spLocks noGrp="1"/>
          </p:cNvSpPr>
          <p:nvPr>
            <p:ph type="body" idx="1"/>
          </p:nvPr>
        </p:nvSpPr>
        <p:spPr>
          <a:xfrm>
            <a:off x="982132" y="1924281"/>
            <a:ext cx="7704668" cy="521063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 dirty="0"/>
              <a:t> Abstraction layer between high level classes and low level classes</a:t>
            </a:r>
          </a:p>
          <a:p>
            <a:pPr lvl="0">
              <a:defRPr sz="1800"/>
            </a:pPr>
            <a:r>
              <a:rPr sz="2400" i="1" dirty="0"/>
              <a:t>Controller </a:t>
            </a:r>
            <a:r>
              <a:rPr sz="2400" dirty="0"/>
              <a:t>depends on the abstract </a:t>
            </a:r>
            <a:r>
              <a:rPr sz="2400" dirty="0" smtClean="0"/>
              <a:t>classe</a:t>
            </a:r>
            <a:r>
              <a:rPr lang="en-US" sz="2400" dirty="0" smtClean="0"/>
              <a:t>s</a:t>
            </a:r>
            <a:r>
              <a:rPr sz="2400" dirty="0" smtClean="0">
                <a:solidFill>
                  <a:srgbClr val="FF0000"/>
                </a:solidFill>
              </a:rPr>
              <a:t> </a:t>
            </a:r>
            <a:r>
              <a:rPr sz="2400" i="1" dirty="0"/>
              <a:t>User </a:t>
            </a:r>
            <a:r>
              <a:rPr sz="2400" dirty="0"/>
              <a:t>and </a:t>
            </a:r>
            <a:r>
              <a:rPr sz="2400" i="1" dirty="0" err="1"/>
              <a:t>UserFactory</a:t>
            </a:r>
            <a:r>
              <a:rPr sz="2400" i="1" dirty="0"/>
              <a:t> </a:t>
            </a:r>
          </a:p>
          <a:p>
            <a:pPr lvl="0">
              <a:defRPr sz="1800"/>
            </a:pPr>
            <a:r>
              <a:rPr sz="2400" i="1" dirty="0"/>
              <a:t>Detail of operation depend on the </a:t>
            </a:r>
            <a:r>
              <a:rPr sz="2400" dirty="0"/>
              <a:t>abstract </a:t>
            </a:r>
            <a:r>
              <a:rPr sz="2400" dirty="0" smtClean="0"/>
              <a:t>classe</a:t>
            </a:r>
            <a:r>
              <a:rPr lang="en-US" sz="2400" dirty="0" smtClean="0"/>
              <a:t>s</a:t>
            </a:r>
            <a:r>
              <a:rPr sz="2400" dirty="0" smtClean="0"/>
              <a:t> </a:t>
            </a:r>
            <a:r>
              <a:rPr sz="2400" i="1" dirty="0"/>
              <a:t>User , </a:t>
            </a:r>
            <a:r>
              <a:rPr sz="2400" i="1" dirty="0" err="1"/>
              <a:t>UserFactory</a:t>
            </a:r>
            <a:r>
              <a:rPr sz="2400" i="1" dirty="0"/>
              <a:t> ,Command</a:t>
            </a:r>
          </a:p>
          <a:p>
            <a:pPr lvl="0">
              <a:defRPr sz="1800"/>
            </a:pPr>
            <a:r>
              <a:rPr sz="2400" dirty="0"/>
              <a:t>Help to achieve OCP</a:t>
            </a:r>
          </a:p>
        </p:txBody>
      </p:sp>
      <p:sp>
        <p:nvSpPr>
          <p:cNvPr id="150" name="Shape 150"/>
          <p:cNvSpPr/>
          <p:nvPr/>
        </p:nvSpPr>
        <p:spPr>
          <a:xfrm>
            <a:off x="1207786" y="1452049"/>
            <a:ext cx="7253360" cy="110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lvl="0" algn="ctr"/>
            <a:r>
              <a:rPr i="1" dirty="0"/>
              <a:t>“High-level modules should not depend on low-level modules.”</a:t>
            </a:r>
          </a:p>
          <a:p>
            <a:pPr lvl="0" algn="ctr"/>
            <a:r>
              <a:rPr i="1" dirty="0"/>
              <a:t>“ Both should depend on abstractions.”</a:t>
            </a:r>
          </a:p>
          <a:p>
            <a:pPr lvl="0" algn="ctr"/>
            <a:r>
              <a:rPr i="1" dirty="0"/>
              <a:t>“Abstractions should not depend on details. Details should depend on abstractions.”</a:t>
            </a:r>
          </a:p>
        </p:txBody>
      </p:sp>
    </p:spTree>
    <p:extLst>
      <p:ext uri="{BB962C8B-B14F-4D97-AF65-F5344CB8AC3E}">
        <p14:creationId xmlns:p14="http://schemas.microsoft.com/office/powerpoint/2010/main" val="312303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 dirty="0"/>
              <a:t>Law of Demeter</a:t>
            </a:r>
          </a:p>
        </p:txBody>
      </p:sp>
      <p:sp>
        <p:nvSpPr>
          <p:cNvPr id="153" name="Shape 153"/>
          <p:cNvSpPr>
            <a:spLocks noGrp="1"/>
          </p:cNvSpPr>
          <p:nvPr>
            <p:ph type="body" idx="1"/>
          </p:nvPr>
        </p:nvSpPr>
        <p:spPr>
          <a:xfrm>
            <a:off x="1071562" y="1494969"/>
            <a:ext cx="7704668" cy="5210631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 marL="342900" lvl="0" indent="-342900">
              <a:buFont typeface="Arial" panose="020B0604020202020204" pitchFamily="34" charset="0"/>
              <a:buChar char="•"/>
              <a:defRPr sz="1800"/>
            </a:pPr>
            <a:r>
              <a:rPr sz="2400" dirty="0"/>
              <a:t>All objects should only interact to their neighbors’ methods</a:t>
            </a:r>
            <a:r>
              <a:rPr sz="2400" dirty="0" smtClean="0"/>
              <a:t>.</a:t>
            </a:r>
            <a:endParaRPr lang="en-US" sz="2400" dirty="0" smtClean="0"/>
          </a:p>
          <a:p>
            <a:pPr marL="342900" lvl="0" indent="-342900">
              <a:buFont typeface="Arial" panose="020B0604020202020204" pitchFamily="34" charset="0"/>
              <a:buChar char="•"/>
              <a:defRPr sz="1800"/>
            </a:pPr>
            <a:r>
              <a:rPr lang="en-US" i="1" dirty="0" smtClean="0"/>
              <a:t>User -&gt; Invoker -&gt; Command -&gt;</a:t>
            </a:r>
            <a:r>
              <a:rPr lang="en-US" i="1" dirty="0" err="1" smtClean="0"/>
              <a:t>DBConnect</a:t>
            </a:r>
            <a:r>
              <a:rPr lang="en-US" i="1" dirty="0" smtClean="0"/>
              <a:t> -&gt; Page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 sz="1800"/>
            </a:pPr>
            <a:endParaRPr sz="2400" i="1" dirty="0"/>
          </a:p>
        </p:txBody>
      </p:sp>
      <p:sp>
        <p:nvSpPr>
          <p:cNvPr id="154" name="Shape 154"/>
          <p:cNvSpPr/>
          <p:nvPr/>
        </p:nvSpPr>
        <p:spPr>
          <a:xfrm>
            <a:off x="2909148" y="1477079"/>
            <a:ext cx="350322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lvl="0"/>
            <a:r>
              <a:rPr dirty="0"/>
              <a:t>“Only talk to your immediate friends.”</a:t>
            </a:r>
          </a:p>
        </p:txBody>
      </p:sp>
    </p:spTree>
    <p:extLst>
      <p:ext uri="{BB962C8B-B14F-4D97-AF65-F5344CB8AC3E}">
        <p14:creationId xmlns:p14="http://schemas.microsoft.com/office/powerpoint/2010/main" val="391467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Design Patterns Used</a:t>
            </a:r>
          </a:p>
        </p:txBody>
      </p:sp>
      <p:sp>
        <p:nvSpPr>
          <p:cNvPr id="157" name="Shape 157"/>
          <p:cNvSpPr>
            <a:spLocks noGrp="1"/>
          </p:cNvSpPr>
          <p:nvPr>
            <p:ph type="body" idx="1"/>
          </p:nvPr>
        </p:nvSpPr>
        <p:spPr>
          <a:xfrm>
            <a:off x="1304080" y="1208747"/>
            <a:ext cx="7704668" cy="5210631"/>
          </a:xfrm>
          <a:prstGeom prst="rect">
            <a:avLst/>
          </a:prstGeom>
        </p:spPr>
        <p:txBody>
          <a:bodyPr/>
          <a:lstStyle/>
          <a:p>
            <a:pPr marL="333375" lvl="0" indent="-333375">
              <a:defRPr sz="1800"/>
            </a:pPr>
            <a:r>
              <a:rPr sz="2800" dirty="0"/>
              <a:t>Factory </a:t>
            </a:r>
          </a:p>
          <a:p>
            <a:pPr marL="333375" lvl="0" indent="-333375">
              <a:defRPr sz="1800"/>
            </a:pPr>
            <a:r>
              <a:rPr sz="2800" dirty="0"/>
              <a:t>Singleton</a:t>
            </a:r>
          </a:p>
          <a:p>
            <a:pPr marL="333375" lvl="0" indent="-333375">
              <a:defRPr sz="1800"/>
            </a:pPr>
            <a:r>
              <a:rPr sz="2800" dirty="0"/>
              <a:t>Command</a:t>
            </a:r>
          </a:p>
          <a:p>
            <a:pPr marL="333375" lvl="0" indent="-333375">
              <a:defRPr sz="1800"/>
            </a:pPr>
            <a:r>
              <a:rPr sz="2800" dirty="0"/>
              <a:t>Observer</a:t>
            </a:r>
          </a:p>
          <a:p>
            <a:pPr lvl="0">
              <a:defRPr sz="1800"/>
            </a:pPr>
            <a:endParaRPr sz="2400" dirty="0"/>
          </a:p>
          <a:p>
            <a:pPr marL="214312" lvl="0" indent="-214312">
              <a:defRPr sz="1800"/>
            </a:pPr>
            <a:r>
              <a:rPr dirty="0"/>
              <a:t>*Slightly modified diagrams for the sake of presentation*</a:t>
            </a:r>
          </a:p>
        </p:txBody>
      </p:sp>
    </p:spTree>
    <p:extLst>
      <p:ext uri="{BB962C8B-B14F-4D97-AF65-F5344CB8AC3E}">
        <p14:creationId xmlns:p14="http://schemas.microsoft.com/office/powerpoint/2010/main" val="335878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/>
          </p:cNvSpPr>
          <p:nvPr>
            <p:ph type="title"/>
          </p:nvPr>
        </p:nvSpPr>
        <p:spPr>
          <a:xfrm>
            <a:off x="982132" y="0"/>
            <a:ext cx="7704667" cy="1357085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Factory Pattern</a:t>
            </a:r>
          </a:p>
        </p:txBody>
      </p:sp>
      <p:sp>
        <p:nvSpPr>
          <p:cNvPr id="161" name="Shape 161"/>
          <p:cNvSpPr/>
          <p:nvPr/>
        </p:nvSpPr>
        <p:spPr>
          <a:xfrm>
            <a:off x="1635369" y="4402880"/>
            <a:ext cx="7508631" cy="207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lvl="0" indent="-285750" defTabSz="457200">
              <a:spcBef>
                <a:spcPts val="600"/>
              </a:spcBef>
              <a:buClr>
                <a:srgbClr val="C59B00"/>
              </a:buClr>
              <a:buSzPct val="145000"/>
              <a:buFont typeface="Arial"/>
              <a:buChar char="•"/>
            </a:pPr>
            <a:r>
              <a:rPr sz="2400" dirty="0"/>
              <a:t>Different types of user</a:t>
            </a:r>
          </a:p>
          <a:p>
            <a:pPr marL="285750" lvl="0" indent="-285750" defTabSz="457200">
              <a:spcBef>
                <a:spcPts val="600"/>
              </a:spcBef>
              <a:buClr>
                <a:srgbClr val="C59B00"/>
              </a:buClr>
              <a:buSzPct val="145000"/>
              <a:buFont typeface="Arial"/>
              <a:buChar char="•"/>
            </a:pPr>
            <a:r>
              <a:rPr sz="2400" dirty="0"/>
              <a:t>(Concrete factory, concrete User) class pair</a:t>
            </a:r>
          </a:p>
          <a:p>
            <a:pPr marL="714375" lvl="1" indent="-257175" defTabSz="457200">
              <a:spcBef>
                <a:spcPts val="600"/>
              </a:spcBef>
              <a:buClr>
                <a:srgbClr val="C59B00"/>
              </a:buClr>
              <a:buSzPct val="145000"/>
              <a:buFont typeface="Arial"/>
              <a:buChar char="•"/>
            </a:pPr>
            <a:r>
              <a:rPr dirty="0" err="1"/>
              <a:t>NormalMemberFactory</a:t>
            </a:r>
            <a:r>
              <a:rPr dirty="0"/>
              <a:t>  </a:t>
            </a:r>
            <a:r>
              <a:rPr u="sng" dirty="0"/>
              <a:t>   (Create)   </a:t>
            </a:r>
            <a:r>
              <a:rPr dirty="0"/>
              <a:t>&gt; </a:t>
            </a:r>
            <a:r>
              <a:rPr dirty="0" err="1"/>
              <a:t>NormalMember</a:t>
            </a:r>
            <a:endParaRPr sz="2000" dirty="0"/>
          </a:p>
          <a:p>
            <a:pPr marL="285750" lvl="0" indent="-285750" defTabSz="457200">
              <a:spcBef>
                <a:spcPts val="600"/>
              </a:spcBef>
              <a:buClr>
                <a:srgbClr val="C59B00"/>
              </a:buClr>
              <a:buSzPct val="145000"/>
              <a:buFont typeface="Arial"/>
              <a:buChar char="•"/>
            </a:pPr>
            <a:r>
              <a:rPr sz="2400" dirty="0"/>
              <a:t>Creation determined at run-time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09" y="1357085"/>
            <a:ext cx="7251711" cy="249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8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/>
          </p:cNvSpPr>
          <p:nvPr>
            <p:ph type="title"/>
          </p:nvPr>
        </p:nvSpPr>
        <p:spPr>
          <a:xfrm>
            <a:off x="964246" y="-71553"/>
            <a:ext cx="7704668" cy="17526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Singleton Pattern</a:t>
            </a:r>
          </a:p>
        </p:txBody>
      </p:sp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964246" y="3069742"/>
            <a:ext cx="4006607" cy="3346825"/>
          </a:xfrm>
          <a:prstGeom prst="rect">
            <a:avLst/>
          </a:prstGeom>
        </p:spPr>
        <p:txBody>
          <a:bodyPr/>
          <a:lstStyle/>
          <a:p>
            <a:pPr marL="381000" lvl="0" indent="-381000"/>
            <a:r>
              <a:rPr sz="2400" dirty="0"/>
              <a:t>Need exactly one instance </a:t>
            </a:r>
          </a:p>
          <a:p>
            <a:pPr marL="381000" lvl="0" indent="-381000"/>
            <a:r>
              <a:rPr sz="2400" dirty="0"/>
              <a:t>Contain shared fields</a:t>
            </a:r>
          </a:p>
          <a:p>
            <a:pPr marL="381000" lvl="0" indent="-381000"/>
            <a:r>
              <a:rPr sz="2400" dirty="0"/>
              <a:t>Provide global point of access</a:t>
            </a:r>
          </a:p>
          <a:p>
            <a:pPr marL="381000" lvl="0" indent="-381000"/>
            <a:r>
              <a:rPr sz="2400" dirty="0"/>
              <a:t>Prevent duplicate objects from flooding the system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59" y="1317141"/>
            <a:ext cx="7807441" cy="168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587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/>
          </p:cNvSpPr>
          <p:nvPr>
            <p:ph type="title"/>
          </p:nvPr>
        </p:nvSpPr>
        <p:spPr>
          <a:xfrm>
            <a:off x="982132" y="0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 dirty="0"/>
              <a:t>Command Pattern</a:t>
            </a:r>
          </a:p>
        </p:txBody>
      </p:sp>
      <p:sp>
        <p:nvSpPr>
          <p:cNvPr id="169" name="Shape 169"/>
          <p:cNvSpPr/>
          <p:nvPr/>
        </p:nvSpPr>
        <p:spPr>
          <a:xfrm>
            <a:off x="977795" y="1357086"/>
            <a:ext cx="2970252" cy="3016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238125" lvl="0" indent="-238125" defTabSz="457200">
              <a:spcBef>
                <a:spcPts val="600"/>
              </a:spcBef>
              <a:buClr>
                <a:srgbClr val="C59B00"/>
              </a:buClr>
              <a:buSzPct val="145000"/>
              <a:buFont typeface="Arial"/>
              <a:buChar char="•"/>
            </a:pPr>
            <a:r>
              <a:rPr sz="2000" dirty="0"/>
              <a:t>Client </a:t>
            </a:r>
            <a:r>
              <a:rPr sz="2000" i="1" dirty="0"/>
              <a:t>User perform</a:t>
            </a:r>
            <a:r>
              <a:rPr sz="2000" dirty="0"/>
              <a:t> its function by calling </a:t>
            </a:r>
            <a:r>
              <a:rPr sz="2000" i="1" dirty="0"/>
              <a:t>Invoker</a:t>
            </a:r>
            <a:endParaRPr sz="2400" dirty="0"/>
          </a:p>
          <a:p>
            <a:pPr marL="238125" lvl="0" indent="-238125" defTabSz="457200">
              <a:spcBef>
                <a:spcPts val="600"/>
              </a:spcBef>
              <a:buClr>
                <a:srgbClr val="C59B00"/>
              </a:buClr>
              <a:buSzPct val="145000"/>
              <a:buFont typeface="Arial"/>
              <a:buChar char="•"/>
            </a:pPr>
            <a:r>
              <a:rPr sz="2000" i="1" dirty="0"/>
              <a:t>Invoker</a:t>
            </a:r>
            <a:r>
              <a:rPr sz="2000" dirty="0"/>
              <a:t> determines the corresponding </a:t>
            </a:r>
            <a:r>
              <a:rPr sz="2000" i="1" dirty="0"/>
              <a:t>Command</a:t>
            </a:r>
            <a:r>
              <a:rPr sz="2000" dirty="0"/>
              <a:t> class</a:t>
            </a:r>
            <a:endParaRPr sz="2000" i="1" dirty="0"/>
          </a:p>
          <a:p>
            <a:pPr marL="238125" lvl="0" indent="-238125" defTabSz="457200">
              <a:spcBef>
                <a:spcPts val="600"/>
              </a:spcBef>
              <a:buClr>
                <a:srgbClr val="C59B00"/>
              </a:buClr>
              <a:buSzPct val="145000"/>
              <a:buFont typeface="Arial"/>
              <a:buChar char="•"/>
            </a:pPr>
            <a:r>
              <a:rPr sz="2000" i="1" dirty="0"/>
              <a:t>Command</a:t>
            </a:r>
            <a:r>
              <a:rPr sz="2000" dirty="0"/>
              <a:t> class call the receiver </a:t>
            </a:r>
            <a:r>
              <a:rPr sz="2000" i="1" dirty="0" err="1"/>
              <a:t>DBConnect</a:t>
            </a:r>
            <a:r>
              <a:rPr sz="2000" i="1" dirty="0"/>
              <a:t> </a:t>
            </a:r>
            <a:r>
              <a:rPr sz="2000" dirty="0"/>
              <a:t> to perform the action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709" y="1357086"/>
            <a:ext cx="4839387" cy="416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1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Observer Pattern</a:t>
            </a:r>
          </a:p>
        </p:txBody>
      </p:sp>
      <p:sp>
        <p:nvSpPr>
          <p:cNvPr id="173" name="Shape 173"/>
          <p:cNvSpPr/>
          <p:nvPr/>
        </p:nvSpPr>
        <p:spPr>
          <a:xfrm>
            <a:off x="1729481" y="3937629"/>
            <a:ext cx="3727029" cy="221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0" defTabSz="457200">
              <a:spcBef>
                <a:spcPts val="600"/>
              </a:spcBef>
            </a:pPr>
            <a:r>
              <a:rPr sz="2400" dirty="0"/>
              <a:t>Following Page</a:t>
            </a:r>
          </a:p>
          <a:p>
            <a:pPr marL="381000" lvl="0" indent="-381000" defTabSz="457200">
              <a:spcBef>
                <a:spcPts val="600"/>
              </a:spcBef>
              <a:buClr>
                <a:srgbClr val="C59B00"/>
              </a:buClr>
              <a:buSzPct val="145000"/>
              <a:buAutoNum type="arabicPeriod"/>
            </a:pPr>
            <a:r>
              <a:rPr sz="2000" dirty="0"/>
              <a:t>A page is updated </a:t>
            </a:r>
            <a:endParaRPr sz="2400" dirty="0"/>
          </a:p>
          <a:p>
            <a:pPr marL="381000" lvl="0" indent="-381000" defTabSz="457200">
              <a:spcBef>
                <a:spcPts val="600"/>
              </a:spcBef>
              <a:buClr>
                <a:srgbClr val="C59B00"/>
              </a:buClr>
              <a:buSzPct val="145000"/>
              <a:buAutoNum type="arabicPeriod"/>
            </a:pPr>
            <a:r>
              <a:rPr sz="2000" dirty="0"/>
              <a:t>Notify subscribed users</a:t>
            </a:r>
            <a:endParaRPr sz="2400" dirty="0"/>
          </a:p>
          <a:p>
            <a:pPr marL="381000" lvl="0" indent="-381000" defTabSz="457200">
              <a:spcBef>
                <a:spcPts val="600"/>
              </a:spcBef>
              <a:buClr>
                <a:srgbClr val="C59B00"/>
              </a:buClr>
              <a:buSzPct val="145000"/>
              <a:buAutoNum type="arabicPeriod"/>
            </a:pPr>
            <a:r>
              <a:rPr sz="2000" dirty="0"/>
              <a:t>User  get the update</a:t>
            </a:r>
            <a:endParaRPr sz="2400" dirty="0"/>
          </a:p>
          <a:p>
            <a:pPr lvl="0" defTabSz="457200">
              <a:spcBef>
                <a:spcPts val="600"/>
              </a:spcBef>
            </a:pPr>
            <a:r>
              <a:rPr sz="2000" dirty="0"/>
              <a:t>          from the page</a:t>
            </a:r>
            <a:br>
              <a:rPr sz="2000" dirty="0"/>
            </a:br>
            <a:endParaRPr sz="2000" dirty="0"/>
          </a:p>
        </p:txBody>
      </p:sp>
      <p:sp>
        <p:nvSpPr>
          <p:cNvPr id="174" name="Shape 174"/>
          <p:cNvSpPr/>
          <p:nvPr/>
        </p:nvSpPr>
        <p:spPr>
          <a:xfrm>
            <a:off x="5413312" y="3937629"/>
            <a:ext cx="3273487" cy="2231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lvl="0" defTabSz="457200">
              <a:spcBef>
                <a:spcPts val="600"/>
              </a:spcBef>
            </a:pPr>
            <a:r>
              <a:rPr sz="2400" dirty="0"/>
              <a:t>Feedback</a:t>
            </a:r>
          </a:p>
          <a:p>
            <a:pPr marL="381000" lvl="0" indent="-381000" defTabSz="457200">
              <a:spcBef>
                <a:spcPts val="600"/>
              </a:spcBef>
              <a:buClr>
                <a:srgbClr val="C59B00"/>
              </a:buClr>
              <a:buSzPct val="145000"/>
              <a:buAutoNum type="arabicPeriod"/>
            </a:pPr>
            <a:r>
              <a:rPr sz="2000" dirty="0"/>
              <a:t>A report/feedback is </a:t>
            </a:r>
            <a:r>
              <a:rPr sz="2000" dirty="0" smtClean="0"/>
              <a:t>submitted</a:t>
            </a:r>
          </a:p>
          <a:p>
            <a:pPr marL="457200" lvl="0" indent="-457200" defTabSz="457200">
              <a:spcBef>
                <a:spcPts val="600"/>
              </a:spcBef>
              <a:buClr>
                <a:srgbClr val="C59B00"/>
              </a:buClr>
              <a:buSzPct val="145000"/>
              <a:buFont typeface="+mj-lt"/>
              <a:buAutoNum type="arabicPeriod"/>
            </a:pPr>
            <a:r>
              <a:rPr sz="2000" dirty="0" smtClean="0"/>
              <a:t>Notify all admins</a:t>
            </a:r>
            <a:endParaRPr sz="2400" dirty="0" smtClean="0"/>
          </a:p>
          <a:p>
            <a:pPr marL="381000" lvl="0" indent="-381000" defTabSz="457200">
              <a:spcBef>
                <a:spcPts val="600"/>
              </a:spcBef>
              <a:buClr>
                <a:srgbClr val="C59B00"/>
              </a:buClr>
              <a:buSzPct val="145000"/>
              <a:buAutoNum type="arabicPeriod"/>
            </a:pPr>
            <a:r>
              <a:rPr sz="2000" dirty="0" smtClean="0"/>
              <a:t>Admin </a:t>
            </a:r>
            <a:r>
              <a:rPr sz="2000" dirty="0"/>
              <a:t>get the report</a:t>
            </a:r>
            <a:br>
              <a:rPr sz="2000" dirty="0"/>
            </a:br>
            <a:endParaRPr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481" y="1494971"/>
            <a:ext cx="6209969" cy="244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7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Software Design</a:t>
            </a:r>
            <a:br>
              <a:rPr lang="en-US" altLang="zh-HK" dirty="0" smtClean="0"/>
            </a:br>
            <a:r>
              <a:rPr lang="en-US" altLang="zh-HK" dirty="0" smtClean="0"/>
              <a:t>Object Interaction</a:t>
            </a:r>
            <a:endParaRPr lang="zh-HK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HK" sz="3200" dirty="0"/>
              <a:t>Sequence Diagrams</a:t>
            </a:r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4748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982397" y="0"/>
            <a:ext cx="7704667" cy="135708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HK" dirty="0" smtClean="0"/>
              <a:t>User creates an event and edits it</a:t>
            </a:r>
            <a:endParaRPr lang="zh-HK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29" y="1357085"/>
            <a:ext cx="7905802" cy="463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5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82395" y="187569"/>
            <a:ext cx="7704667" cy="1357085"/>
          </a:xfrm>
        </p:spPr>
        <p:txBody>
          <a:bodyPr/>
          <a:lstStyle/>
          <a:p>
            <a:r>
              <a:rPr lang="en-US" altLang="zh-HK" dirty="0" smtClean="0"/>
              <a:t>User views an event and comments</a:t>
            </a:r>
            <a:endParaRPr lang="zh-HK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14" y="1544654"/>
            <a:ext cx="7981831" cy="42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3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982396" y="472922"/>
            <a:ext cx="7704667" cy="135708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HK" dirty="0" smtClean="0"/>
              <a:t>User submits a report</a:t>
            </a:r>
            <a:endParaRPr lang="zh-HK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93" y="1830007"/>
            <a:ext cx="8206274" cy="392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96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System Prototype</a:t>
            </a:r>
          </a:p>
        </p:txBody>
      </p:sp>
      <p:pic>
        <p:nvPicPr>
          <p:cNvPr id="180" name="image7.png" descr="螢幕快照 2015-04-21 下午8.45.29.png"/>
          <p:cNvPicPr/>
          <p:nvPr/>
        </p:nvPicPr>
        <p:blipFill>
          <a:blip r:embed="rId3">
            <a:extLst/>
          </a:blip>
          <a:srcRect l="6449" r="6449"/>
          <a:stretch>
            <a:fillRect/>
          </a:stretch>
        </p:blipFill>
        <p:spPr>
          <a:xfrm>
            <a:off x="1568864" y="1384054"/>
            <a:ext cx="6222916" cy="4208452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Shape 181"/>
          <p:cNvSpPr/>
          <p:nvPr/>
        </p:nvSpPr>
        <p:spPr>
          <a:xfrm>
            <a:off x="1538159" y="5664868"/>
            <a:ext cx="7239369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0"/>
            <a:r>
              <a:rPr dirty="0"/>
              <a:t>Demo link: </a:t>
            </a:r>
          </a:p>
          <a:p>
            <a:pPr lvl="0"/>
            <a:r>
              <a:rPr dirty="0">
                <a:hlinkClick r:id="rId4"/>
              </a:rPr>
              <a:t>https://www.youtube.com/watch?v=vr6EUXHN88c&amp;feature=youtu.be </a:t>
            </a:r>
          </a:p>
        </p:txBody>
      </p:sp>
    </p:spTree>
    <p:extLst>
      <p:ext uri="{BB962C8B-B14F-4D97-AF65-F5344CB8AC3E}">
        <p14:creationId xmlns:p14="http://schemas.microsoft.com/office/powerpoint/2010/main" val="188041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/>
          </p:cNvSpPr>
          <p:nvPr>
            <p:ph type="title"/>
          </p:nvPr>
        </p:nvSpPr>
        <p:spPr>
          <a:xfrm>
            <a:off x="982132" y="137885"/>
            <a:ext cx="7704668" cy="135708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Project Management</a:t>
            </a:r>
          </a:p>
        </p:txBody>
      </p:sp>
      <p:graphicFrame>
        <p:nvGraphicFramePr>
          <p:cNvPr id="186" name="Table 186"/>
          <p:cNvGraphicFramePr/>
          <p:nvPr>
            <p:extLst>
              <p:ext uri="{D42A27DB-BD31-4B8C-83A1-F6EECF244321}">
                <p14:modId xmlns:p14="http://schemas.microsoft.com/office/powerpoint/2010/main" val="2739273120"/>
              </p:ext>
            </p:extLst>
          </p:nvPr>
        </p:nvGraphicFramePr>
        <p:xfrm>
          <a:off x="748631" y="1696712"/>
          <a:ext cx="7874001" cy="432900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83895"/>
                <a:gridCol w="1457158"/>
                <a:gridCol w="2499895"/>
                <a:gridCol w="2433053"/>
              </a:tblGrid>
              <a:tr h="671406">
                <a:tc>
                  <a:txBody>
                    <a:bodyPr/>
                    <a:lstStyle/>
                    <a:p>
                      <a:pPr lvl="0" algn="l" defTabSz="4572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Team Member</a:t>
                      </a:r>
                      <a:endParaRPr sz="140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Post</a:t>
                      </a:r>
                      <a:endParaRPr sz="140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horzOverflow="overflow"/>
                </a:tc>
                <a:tc gridSpan="2">
                  <a:txBody>
                    <a:bodyPr/>
                    <a:lstStyle/>
                    <a:p>
                      <a:pPr lvl="0" algn="l" defTabSz="4572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dirty="0"/>
                        <a:t>Responsibilities</a:t>
                      </a:r>
                      <a:endParaRPr sz="1400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horzOverflow="overflow"/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</a:tr>
              <a:tr h="67140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/>
                      </a:pPr>
                      <a:r>
                        <a:rPr lang="en-US" sz="1400" dirty="0" smtClean="0"/>
                        <a:t>CHU </a:t>
                      </a:r>
                      <a:r>
                        <a:rPr lang="en-US" sz="1400" smtClean="0"/>
                        <a:t>Ka Fai</a:t>
                      </a:r>
                      <a:endParaRPr lang="en-US" sz="1400" i="1" dirty="0" smtClean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800" b="0" i="0"/>
                      </a:pPr>
                      <a:r>
                        <a:rPr sz="1400"/>
                        <a:t>Project Manager</a:t>
                      </a:r>
                      <a:endParaRPr sz="1400" i="1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Requirement analysis</a:t>
                      </a:r>
                      <a:endParaRPr dirty="0"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Use Case diagram</a:t>
                      </a:r>
                      <a:endParaRPr dirty="0"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Class diagram</a:t>
                      </a:r>
                      <a:endParaRPr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Design pattern analysis</a:t>
                      </a:r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Sequence diagram</a:t>
                      </a:r>
                      <a:endParaRPr sz="1400" i="1" dirty="0"/>
                    </a:p>
                  </a:txBody>
                  <a:tcPr marL="45720" marR="45720" horzOverflow="overflow"/>
                </a:tc>
              </a:tr>
              <a:tr h="671406">
                <a:tc>
                  <a:txBody>
                    <a:bodyPr/>
                    <a:lstStyle/>
                    <a:p>
                      <a:pPr lvl="0" algn="l" defTabSz="457200">
                        <a:defRPr sz="1800" b="0" i="0"/>
                      </a:pPr>
                      <a:r>
                        <a:rPr sz="1400" dirty="0"/>
                        <a:t>GO Ming </a:t>
                      </a:r>
                      <a:r>
                        <a:rPr sz="1400" dirty="0" err="1"/>
                        <a:t>Tsun</a:t>
                      </a:r>
                      <a:endParaRPr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800" b="0" i="0"/>
                      </a:pPr>
                      <a:r>
                        <a:rPr lang="en-US" altLang="zh-HK" sz="1400" dirty="0" smtClean="0"/>
                        <a:t>Assistant Project Manager</a:t>
                      </a:r>
                      <a:endParaRPr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/>
                        <a:t>Requirement analysis</a:t>
                      </a:r>
                      <a:endParaRPr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/>
                        <a:t>Use case diagram</a:t>
                      </a:r>
                      <a:endParaRPr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/>
                        <a:t>Use case specification</a:t>
                      </a:r>
                      <a:endParaRPr sz="1400" i="1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Sequence diagram</a:t>
                      </a:r>
                      <a:endParaRPr dirty="0"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Project assembly</a:t>
                      </a:r>
                      <a:endParaRPr sz="1400" i="1" dirty="0"/>
                    </a:p>
                  </a:txBody>
                  <a:tcPr marL="45720" marR="45720" horzOverflow="overflow"/>
                </a:tc>
              </a:tr>
              <a:tr h="671406">
                <a:tc>
                  <a:txBody>
                    <a:bodyPr/>
                    <a:lstStyle/>
                    <a:p>
                      <a:pPr lvl="0" algn="l" defTabSz="457200">
                        <a:defRPr sz="1800" b="0" i="0"/>
                      </a:pPr>
                      <a:r>
                        <a:rPr lang="en-US" sz="1400" dirty="0" smtClean="0"/>
                        <a:t>FUNG Chung Kit</a:t>
                      </a:r>
                      <a:endParaRPr lang="en-US"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800" b="0" i="0"/>
                      </a:pPr>
                      <a:r>
                        <a:rPr lang="en-US" altLang="zh-HK" sz="1400" dirty="0" smtClean="0"/>
                        <a:t>Designer</a:t>
                      </a:r>
                      <a:endParaRPr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Requirement analysis</a:t>
                      </a:r>
                      <a:endParaRPr dirty="0"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Use case diagram</a:t>
                      </a:r>
                      <a:endParaRPr dirty="0"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Class diagram</a:t>
                      </a:r>
                      <a:endParaRPr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Design pattern analysis</a:t>
                      </a:r>
                      <a:endParaRPr dirty="0"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Sequence diagram</a:t>
                      </a:r>
                      <a:endParaRPr i="1" dirty="0"/>
                    </a:p>
                  </a:txBody>
                  <a:tcPr marL="45720" marR="45720" horzOverflow="overflow"/>
                </a:tc>
              </a:tr>
              <a:tr h="671406">
                <a:tc>
                  <a:txBody>
                    <a:bodyPr/>
                    <a:lstStyle/>
                    <a:p>
                      <a:pPr lvl="0" algn="l" defTabSz="457200">
                        <a:defRPr sz="1800" b="0" i="0"/>
                      </a:pPr>
                      <a:r>
                        <a:rPr sz="1400" dirty="0"/>
                        <a:t>CHEN </a:t>
                      </a:r>
                      <a:r>
                        <a:rPr sz="1400" dirty="0" err="1"/>
                        <a:t>Zong</a:t>
                      </a:r>
                      <a:endParaRPr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800" b="0" i="0"/>
                      </a:pPr>
                      <a:r>
                        <a:rPr sz="1400" dirty="0"/>
                        <a:t>Designer</a:t>
                      </a:r>
                      <a:endParaRPr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/>
                        <a:t>Background research </a:t>
                      </a:r>
                      <a:endParaRPr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/>
                        <a:t>Requirement analysis</a:t>
                      </a:r>
                      <a:endParaRPr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/>
                        <a:t>Use case diagram</a:t>
                      </a:r>
                      <a:endParaRPr sz="1400" i="1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Use case specification</a:t>
                      </a:r>
                      <a:endParaRPr dirty="0"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Prototype visualization</a:t>
                      </a:r>
                      <a:endParaRPr sz="1400" i="1" dirty="0"/>
                    </a:p>
                  </a:txBody>
                  <a:tcPr marL="45720" marR="45720" horzOverflow="overflow"/>
                </a:tc>
              </a:tr>
              <a:tr h="671406">
                <a:tc>
                  <a:txBody>
                    <a:bodyPr/>
                    <a:lstStyle/>
                    <a:p>
                      <a:pPr lvl="0" algn="l" defTabSz="457200">
                        <a:defRPr sz="1800" b="0" i="0"/>
                      </a:pPr>
                      <a:r>
                        <a:rPr sz="1400" dirty="0"/>
                        <a:t>CHEN </a:t>
                      </a:r>
                      <a:r>
                        <a:rPr sz="1400" dirty="0" err="1"/>
                        <a:t>Qianxun</a:t>
                      </a:r>
                      <a:endParaRPr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lvl="0" algn="l" defTabSz="457200">
                        <a:defRPr sz="1800" b="0" i="0"/>
                      </a:pPr>
                      <a:r>
                        <a:rPr sz="1400" dirty="0"/>
                        <a:t>Designer</a:t>
                      </a:r>
                      <a:endParaRPr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Background research </a:t>
                      </a:r>
                      <a:endParaRPr dirty="0"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Requirement analysis</a:t>
                      </a:r>
                      <a:endParaRPr dirty="0"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Use case diagram</a:t>
                      </a:r>
                      <a:endParaRPr sz="1400" i="1"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Prototype design </a:t>
                      </a:r>
                      <a:endParaRPr dirty="0"/>
                    </a:p>
                    <a:p>
                      <a:pPr marL="222250" lvl="0" indent="-222250" algn="l" defTabSz="457200">
                        <a:buSzPct val="100000"/>
                        <a:buFont typeface="Arial"/>
                        <a:buChar char="•"/>
                        <a:defRPr sz="1800" b="0" i="0"/>
                      </a:pPr>
                      <a:r>
                        <a:rPr sz="1400" dirty="0"/>
                        <a:t>Prototype visualization</a:t>
                      </a:r>
                      <a:endParaRPr sz="1400" i="1" dirty="0"/>
                    </a:p>
                  </a:txBody>
                  <a:tcPr marL="45720" marR="45720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85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7291" y="-97809"/>
            <a:ext cx="7704667" cy="1981200"/>
          </a:xfrm>
        </p:spPr>
        <p:txBody>
          <a:bodyPr/>
          <a:lstStyle/>
          <a:p>
            <a:r>
              <a:rPr lang="en-US" altLang="zh-TW" dirty="0" smtClean="0"/>
              <a:t>Overall reflection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7291" y="2129050"/>
            <a:ext cx="8181833" cy="4116425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Learn: </a:t>
            </a:r>
          </a:p>
          <a:p>
            <a:pPr lvl="1"/>
            <a:r>
              <a:rPr lang="en-US" altLang="zh-TW" dirty="0" smtClean="0"/>
              <a:t>Construct the structure of a system from zero</a:t>
            </a:r>
          </a:p>
          <a:p>
            <a:pPr lvl="1"/>
            <a:r>
              <a:rPr lang="en-US" altLang="zh-TW" dirty="0" smtClean="0"/>
              <a:t>UML graphing</a:t>
            </a:r>
          </a:p>
          <a:p>
            <a:pPr lvl="1"/>
            <a:r>
              <a:rPr lang="en-US" altLang="zh-TW" dirty="0" smtClean="0"/>
              <a:t>OOP design</a:t>
            </a:r>
          </a:p>
          <a:p>
            <a:r>
              <a:rPr lang="en-US" altLang="zh-TW" dirty="0" smtClean="0"/>
              <a:t>Most important: Open-closed principle</a:t>
            </a:r>
          </a:p>
          <a:p>
            <a:r>
              <a:rPr lang="en-US" altLang="zh-TW" dirty="0" smtClean="0"/>
              <a:t>Meet all user requirement</a:t>
            </a:r>
          </a:p>
          <a:p>
            <a:r>
              <a:rPr lang="en-US" altLang="zh-TW" dirty="0" smtClean="0"/>
              <a:t>Improve:</a:t>
            </a:r>
          </a:p>
          <a:p>
            <a:pPr lvl="1"/>
            <a:r>
              <a:rPr lang="en-US" altLang="zh-TW" dirty="0"/>
              <a:t>Interface Segregation </a:t>
            </a:r>
            <a:r>
              <a:rPr lang="en-US" altLang="zh-TW" dirty="0" smtClean="0"/>
              <a:t>Principle</a:t>
            </a:r>
          </a:p>
          <a:p>
            <a:pPr lvl="1"/>
            <a:r>
              <a:rPr lang="en-US" altLang="zh-TW" dirty="0"/>
              <a:t>Single Responsibility Principle</a:t>
            </a:r>
            <a:endParaRPr lang="en-US" altLang="zh-TW" dirty="0" smtClean="0"/>
          </a:p>
          <a:p>
            <a:endParaRPr lang="en-US" altLang="zh-TW" dirty="0" smtClean="0"/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978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Design a online event holding system</a:t>
            </a:r>
          </a:p>
          <a:p>
            <a:r>
              <a:rPr lang="en-US" altLang="zh-TW" dirty="0" smtClean="0"/>
              <a:t>Apply OOP principle &amp; pattern</a:t>
            </a:r>
          </a:p>
          <a:p>
            <a:r>
              <a:rPr lang="en-US" altLang="zh-TW" dirty="0" smtClean="0"/>
              <a:t>Diagram</a:t>
            </a:r>
          </a:p>
          <a:p>
            <a:pPr lvl="1"/>
            <a:r>
              <a:rPr lang="en-US" altLang="zh-TW" dirty="0" smtClean="0"/>
              <a:t>Use case</a:t>
            </a:r>
          </a:p>
          <a:p>
            <a:pPr lvl="1"/>
            <a:r>
              <a:rPr lang="en-US" altLang="zh-TW" dirty="0" smtClean="0"/>
              <a:t>Class</a:t>
            </a:r>
          </a:p>
          <a:p>
            <a:pPr lvl="1"/>
            <a:r>
              <a:rPr lang="en-US" altLang="zh-TW" dirty="0" smtClean="0"/>
              <a:t>Sequence</a:t>
            </a:r>
          </a:p>
          <a:p>
            <a:r>
              <a:rPr lang="en-US" altLang="zh-TW" dirty="0" smtClean="0"/>
              <a:t>Documentation</a:t>
            </a:r>
          </a:p>
          <a:p>
            <a:r>
              <a:rPr lang="en-US" altLang="zh-TW" dirty="0" smtClean="0"/>
              <a:t>Prototype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787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機器人">
  <a:themeElements>
    <a:clrScheme name="黃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機器人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機器人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TM03457496[[fn=視差]]</Template>
  <TotalTime>328</TotalTime>
  <Words>1484</Words>
  <Application>Microsoft Office PowerPoint</Application>
  <PresentationFormat>On-screen Show (4:3)</PresentationFormat>
  <Paragraphs>349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新細明體</vt:lpstr>
      <vt:lpstr>Arial</vt:lpstr>
      <vt:lpstr>Calibri</vt:lpstr>
      <vt:lpstr>Corbel</vt:lpstr>
      <vt:lpstr>Times New Roman</vt:lpstr>
      <vt:lpstr>機器人</vt:lpstr>
      <vt:lpstr>CS3342 Software Design Project EVENTIFY - Online Event Holding System</vt:lpstr>
      <vt:lpstr>Background &amp; Problem</vt:lpstr>
      <vt:lpstr>PowerPoint Presentation</vt:lpstr>
      <vt:lpstr>Objectives</vt:lpstr>
      <vt:lpstr>How EVENTIFY works?</vt:lpstr>
      <vt:lpstr>How EVENTIFY works?</vt:lpstr>
      <vt:lpstr>User Requirements</vt:lpstr>
      <vt:lpstr>Use Case Diagram</vt:lpstr>
      <vt:lpstr>User Requirements</vt:lpstr>
      <vt:lpstr>User Requirements</vt:lpstr>
      <vt:lpstr>PowerPoint Presentation</vt:lpstr>
      <vt:lpstr>Use Case Specification</vt:lpstr>
      <vt:lpstr>PowerPoint Presentation</vt:lpstr>
      <vt:lpstr>PowerPoint Presentation</vt:lpstr>
      <vt:lpstr>Use Case Specification</vt:lpstr>
      <vt:lpstr>PowerPoint Presentation</vt:lpstr>
      <vt:lpstr>Software Design Object Modelling</vt:lpstr>
      <vt:lpstr>Class Diagram</vt:lpstr>
      <vt:lpstr>Design Principles Applied</vt:lpstr>
      <vt:lpstr>Open-Closed Principle</vt:lpstr>
      <vt:lpstr>Liskov Substitution Principle</vt:lpstr>
      <vt:lpstr>Dependency Inversion Principle </vt:lpstr>
      <vt:lpstr>Law of Demeter</vt:lpstr>
      <vt:lpstr>Design Patterns Used</vt:lpstr>
      <vt:lpstr>Factory Pattern</vt:lpstr>
      <vt:lpstr>Singleton Pattern</vt:lpstr>
      <vt:lpstr>Command Pattern</vt:lpstr>
      <vt:lpstr>Observer Pattern</vt:lpstr>
      <vt:lpstr>Software Design Object Interaction</vt:lpstr>
      <vt:lpstr>PowerPoint Presentation</vt:lpstr>
      <vt:lpstr>User views an event and comments</vt:lpstr>
      <vt:lpstr>PowerPoint Presentation</vt:lpstr>
      <vt:lpstr>System Prototype</vt:lpstr>
      <vt:lpstr>Project Management</vt:lpstr>
      <vt:lpstr>Overall reflection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GMT Buster</dc:creator>
  <cp:lastModifiedBy>Microsoft account</cp:lastModifiedBy>
  <cp:revision>66</cp:revision>
  <dcterms:created xsi:type="dcterms:W3CDTF">2015-04-19T18:48:41Z</dcterms:created>
  <dcterms:modified xsi:type="dcterms:W3CDTF">2015-05-01T08:16:22Z</dcterms:modified>
</cp:coreProperties>
</file>