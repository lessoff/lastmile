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84"/>
  </p:normalViewPr>
  <p:slideViewPr>
    <p:cSldViewPr snapToGrid="0" snapToObjects="1">
      <p:cViewPr varScale="1">
        <p:scale>
          <a:sx n="120" d="100"/>
          <a:sy n="120" d="100"/>
        </p:scale>
        <p:origin x="192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LastMile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A0D2CE"/>
                </a:solidFill>
                <a:latin typeface="Calibri"/>
              </a:defRPr>
            </a:pPr>
            <a:r>
              <a:t>Delivery Route Optimizer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66160"/>
            <a:ext cx="27432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AB0BE"/>
                </a:solidFill>
                <a:latin typeface="Calibri"/>
              </a:defRPr>
            </a:pPr>
            <a:r>
              <a:t>CS3342 Software Design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9AAA"/>
                </a:solidFill>
                <a:latin typeface="Calibri"/>
              </a:defRPr>
            </a:pPr>
            <a:r>
              <a:t>Optimizing delivery routes using heuristic algorithms &amp; design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Group Members — Team 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27432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AB0BE"/>
                </a:solidFill>
                <a:latin typeface="Calibri"/>
              </a:defRPr>
            </a:pPr>
            <a:r>
              <a:t>Project: LastMile — Delivery Route Optimizer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303520" cy="2423160"/>
          </a:xfrm>
          <a:prstGeom prst="roundRect">
            <a:avLst>
              <a:gd name="adj" fmla="val 4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18488"/>
            <a:ext cx="50800" cy="2203704"/>
          </a:xfrm>
          <a:prstGeom prst="rect">
            <a:avLst/>
          </a:prstGeom>
          <a:solidFill>
            <a:srgbClr val="A0D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A0D2CE"/>
                </a:solidFill>
                <a:latin typeface="Calibri"/>
              </a:defRPr>
            </a:pPr>
            <a:r>
              <a:t>Lessov Akniyet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039112"/>
            <a:ext cx="2743200" cy="32004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AB0BE"/>
                </a:solidFill>
                <a:latin typeface="Calibri"/>
              </a:defRPr>
            </a:pPr>
            <a:r>
              <a:t>Project Lead &amp;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688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t>▸  Project planning &amp; management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t>▸  System architecture design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t>▸  Strategy pattern (algorithm/)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t>▸  2-Opt algorithm implementation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t>▸  Maven build &amp; CI/CD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08760"/>
            <a:ext cx="5303520" cy="2423160"/>
          </a:xfrm>
          <a:prstGeom prst="roundRect">
            <a:avLst>
              <a:gd name="adj" fmla="val 4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618488"/>
            <a:ext cx="50800" cy="220370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Bulatov Smadiyar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039112"/>
            <a:ext cx="2743200" cy="32004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AB0BE"/>
                </a:solidFill>
                <a:latin typeface="Calibri"/>
              </a:defRPr>
            </a:pPr>
            <a:r>
              <a:t>Backend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4688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t>▸  Nearest Neighbor algorithm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t>▸  Greedy Edge + Union-Find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t>▸  Route &amp; DeliveryGraph models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t>▸  Capacity splitting logic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t>▸  Input validation &amp; exceptions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5303520" cy="2423160"/>
          </a:xfrm>
          <a:prstGeom prst="roundRect">
            <a:avLst>
              <a:gd name="adj" fmla="val 4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270248"/>
            <a:ext cx="50800" cy="220370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Naumov Iusuf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690872"/>
            <a:ext cx="2743200" cy="32004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AB0BE"/>
                </a:solidFill>
                <a:latin typeface="Calibri"/>
              </a:defRPr>
            </a:pPr>
            <a:r>
              <a:t>QA &amp; Observer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1206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rPr dirty="0"/>
              <a:t>▸  Observer pattern (observer/)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ConsoleLogger</a:t>
            </a:r>
            <a:r>
              <a:rPr dirty="0"/>
              <a:t> &amp; </a:t>
            </a:r>
            <a:r>
              <a:rPr dirty="0" err="1"/>
              <a:t>FileLogger</a:t>
            </a: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ConstraintChecker</a:t>
            </a:r>
            <a:r>
              <a:rPr dirty="0"/>
              <a:t> implementation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rPr dirty="0"/>
              <a:t>▸  JUnit 5 test suite (30+ tests)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rPr dirty="0"/>
              <a:t>▸  Test strategy &amp; coverage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160520"/>
            <a:ext cx="5303520" cy="2423160"/>
          </a:xfrm>
          <a:prstGeom prst="roundRect">
            <a:avLst>
              <a:gd name="adj" fmla="val 4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4270248"/>
            <a:ext cx="50800" cy="220370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Calibri"/>
              </a:defRPr>
            </a:pPr>
            <a:r>
              <a:t>Tursynov Birzhan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4690872"/>
            <a:ext cx="2743200" cy="32004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084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AB0BE"/>
                </a:solidFill>
                <a:latin typeface="Calibri"/>
              </a:defRPr>
            </a:pPr>
            <a:r>
              <a:t>I/O &amp;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293312"/>
            <a:ext cx="4663440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rPr dirty="0"/>
              <a:t>▸  Template Method (report/)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rPr dirty="0"/>
              <a:t>▸  Console &amp; File ReportGenerator</a:t>
            </a:r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rPr dirty="0"/>
              <a:t>▸  </a:t>
            </a:r>
            <a:r>
              <a:rPr dirty="0" err="1"/>
              <a:t>CsvMatrixReader</a:t>
            </a:r>
            <a:r>
              <a:rPr dirty="0"/>
              <a:t> &amp; </a:t>
            </a:r>
            <a:r>
              <a:rPr dirty="0" err="1"/>
              <a:t>JsonReader</a:t>
            </a:r>
            <a:endParaRPr dirty="0"/>
          </a:p>
          <a:p>
            <a:pPr>
              <a:spcAft>
                <a:spcPts val="300"/>
              </a:spcAft>
              <a:defRPr sz="1300">
                <a:solidFill>
                  <a:srgbClr val="E0EBEE"/>
                </a:solidFill>
                <a:latin typeface="Calibri"/>
              </a:defRPr>
            </a:pPr>
            <a:r>
              <a:rPr dirty="0"/>
              <a:t>▸  User Manual &amp; Install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0D2CE"/>
                </a:solidFill>
                <a:latin typeface="Calibri"/>
              </a:defRPr>
            </a:pPr>
            <a:r>
              <a:t>What does it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A Java CLI application that computes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optimized delivery routes.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Compares 3 routing algorithms on 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given distance matrix.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Handles real-world constraints: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  - Vehicle capacity limits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  - Time window enforcement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  - Delivery priority ordering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0D2CE"/>
                </a:solidFill>
                <a:latin typeface="Calibri"/>
              </a:defRPr>
            </a:pPr>
            <a:r>
              <a:t>Who are the users?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Logistics companies planning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daily delivery schedules.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Fleet managers optimizing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driver routes.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Route planners seeking to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minimize fuel costs and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delivery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0D2CE"/>
                </a:solidFill>
                <a:latin typeface="Calibri"/>
              </a:defRPr>
            </a:pPr>
            <a:r>
              <a:t>Why this project?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65960"/>
            <a:ext cx="2834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Manual route planning is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inefficient and costly.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Optimized routing reduces: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  - Fuel costs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  - Delivery time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  - CO2 emissions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Based on the TSP — a classic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NP-hard optimization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97280"/>
          </a:xfrm>
          <a:prstGeom prst="roundRect">
            <a:avLst>
              <a:gd name="adj" fmla="val 3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800" cy="1097280"/>
          </a:xfrm>
          <a:prstGeom prst="rect">
            <a:avLst/>
          </a:prstGeom>
          <a:solidFill>
            <a:srgbClr val="A0D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Build a modular, extensible route optimization CLI tool that compares</a:t>
            </a:r>
            <a:br/>
            <a:r>
              <a:t>multiple heuristic algorithms under real-world delivery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50800" cy="118872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D2CE"/>
                </a:solidFill>
                <a:latin typeface="Calibri"/>
              </a:defRPr>
            </a:pPr>
            <a:r>
              <a:t>Load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CSV distance matrices</a:t>
            </a:r>
            <a:br/>
            <a:r>
              <a:t>JSON package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83464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971800"/>
            <a:ext cx="50800" cy="118872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D2CE"/>
                </a:solidFill>
                <a:latin typeface="Calibri"/>
              </a:defRPr>
            </a:pPr>
            <a:r>
              <a:t>3 Algorithms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383280"/>
            <a:ext cx="29260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0EBEE"/>
                </a:solidFill>
                <a:latin typeface="Calibri"/>
              </a:defRPr>
            </a:pPr>
            <a:r>
              <a:rPr lang="en-KZ" dirty="0"/>
              <a:t>· </a:t>
            </a:r>
            <a:r>
              <a:rPr dirty="0"/>
              <a:t>Nearest Neighbor</a:t>
            </a:r>
            <a:br>
              <a:rPr dirty="0"/>
            </a:br>
            <a:r>
              <a:rPr lang="en-KZ" dirty="0"/>
              <a:t>· </a:t>
            </a:r>
            <a:r>
              <a:rPr dirty="0"/>
              <a:t>Greedy Edge</a:t>
            </a:r>
            <a:endParaRPr lang="en-US" dirty="0"/>
          </a:p>
          <a:p>
            <a:pPr>
              <a:defRPr sz="1400" b="0">
                <a:solidFill>
                  <a:srgbClr val="E0EBEE"/>
                </a:solidFill>
                <a:latin typeface="Calibri"/>
              </a:defRPr>
            </a:pPr>
            <a:r>
              <a:rPr lang="en-KZ" dirty="0"/>
              <a:t>· </a:t>
            </a:r>
            <a:r>
              <a:rPr dirty="0"/>
              <a:t>2-Opt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83464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971800"/>
            <a:ext cx="50800" cy="118872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971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D2CE"/>
                </a:solidFill>
                <a:latin typeface="Calibri"/>
              </a:defRPr>
            </a:pPr>
            <a:r>
              <a:t>Capacity Splitting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3832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Multi-trip routing when</a:t>
            </a:r>
            <a:br/>
            <a:r>
              <a:t>vehicle weight exceeded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800600"/>
            <a:ext cx="50800" cy="118872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D2CE"/>
                </a:solidFill>
                <a:latin typeface="Calibri"/>
              </a:defRPr>
            </a:pPr>
            <a:r>
              <a:t>Constraint Checking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212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Time windows &amp;</a:t>
            </a:r>
            <a:br/>
            <a:r>
              <a:t>priority enforcement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66344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4800600"/>
            <a:ext cx="50800" cy="118872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D2CE"/>
                </a:solidFill>
                <a:latin typeface="Calibri"/>
              </a:defRPr>
            </a:pPr>
            <a:r>
              <a:t>Report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212080"/>
            <a:ext cx="2926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rPr lang="en-US" dirty="0"/>
              <a:t>O</a:t>
            </a:r>
            <a:r>
              <a:rPr dirty="0"/>
              <a:t>utput</a:t>
            </a:r>
            <a:br>
              <a:rPr dirty="0"/>
            </a:br>
            <a:r>
              <a:rPr dirty="0"/>
              <a:t>with comparison tables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66344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4800600"/>
            <a:ext cx="50800" cy="118872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D2CE"/>
                </a:solidFill>
                <a:latin typeface="Calibri"/>
              </a:defRPr>
            </a:pPr>
            <a:r>
              <a:t>Event Logging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52120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Real-time observer-based</a:t>
            </a:r>
            <a:br/>
            <a:r>
              <a:t>console &amp; file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Use Case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2369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AB0BE"/>
                </a:solidFill>
                <a:latin typeface="Calibri"/>
              </a:defRPr>
            </a:pPr>
            <a:r>
              <a:rPr dirty="0"/>
              <a:t>Primary Actor: Route Planner / Fleet Manager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8036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311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UC1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037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D2CE"/>
                </a:solidFill>
                <a:latin typeface="Calibri"/>
              </a:defRPr>
            </a:pPr>
            <a:r>
              <a:t>Load Distance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0375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Import CSV file with inter-stop distances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16404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8955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2621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D2CE"/>
                </a:solidFill>
                <a:latin typeface="Calibri"/>
              </a:defRPr>
            </a:pPr>
            <a:r>
              <a:t>Load Package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6212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Import JSON with delivery details, priorities, time windows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74772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94792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UC3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9204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D2CE"/>
                </a:solidFill>
                <a:latin typeface="Calibri"/>
              </a:defRPr>
            </a:pPr>
            <a:r>
              <a:t>Select 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2049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Choose NN, Greedy Edge, 2-Opt, or compare all three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33140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60629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UC4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5788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D2CE"/>
                </a:solidFill>
                <a:latin typeface="Calibri"/>
              </a:defRPr>
            </a:pPr>
            <a:r>
              <a:t>Set Capacity Constraint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5788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Define vehicle weight limit for multi-trip splitting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91508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2646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UC5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2372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D2CE"/>
                </a:solidFill>
                <a:latin typeface="Calibri"/>
              </a:defRPr>
            </a:pPr>
            <a:r>
              <a:t>Run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3722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Compute optimal delivery routes with selected algorithm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9876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92302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8955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D2CE"/>
                </a:solidFill>
                <a:latin typeface="Calibri"/>
              </a:defRPr>
            </a:pPr>
            <a:r>
              <a:t>View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9559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See route sequence, distances, time windows, violations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08244"/>
            <a:ext cx="822960" cy="502920"/>
          </a:xfrm>
          <a:prstGeom prst="roundRect">
            <a:avLst>
              <a:gd name="adj" fmla="val 10000"/>
            </a:avLst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58139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UC7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5539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D2CE"/>
                </a:solidFill>
                <a:latin typeface="Calibri"/>
              </a:defRPr>
            </a:pPr>
            <a:r>
              <a:t>Export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561321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rPr dirty="0"/>
              <a:t>Save detailed results to output file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128249"/>
            <a:ext cx="10698480" cy="502920"/>
          </a:xfrm>
          <a:prstGeom prst="roundRect">
            <a:avLst>
              <a:gd name="adj" fmla="val 3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2000" y="621968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B0BE"/>
                </a:solidFill>
                <a:latin typeface="Calibri"/>
              </a:defRPr>
            </a:pPr>
            <a:r>
              <a:rPr dirty="0"/>
              <a:t>Includes:  Input validation  ·  Constraint checking  ·  Multi-trip splitting  ·  Observer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Prototype &amp;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82" y="0"/>
            <a:ext cx="10809766" cy="7356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7553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646" y="713048"/>
            <a:ext cx="8873756" cy="63114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8627" y="178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Class Diagram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724" y="746193"/>
            <a:ext cx="22860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47461" y="328135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AB0BE"/>
                </a:solidFill>
              </a:defRPr>
            </a:pPr>
            <a:r>
              <a:rPr dirty="0"/>
              <a:t>Full UML class diagram showing all packages, interfaces, and 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trategy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40" y="-255932"/>
            <a:ext cx="11142920" cy="73698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847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observer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53" y="-247259"/>
            <a:ext cx="11116694" cy="735251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847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101501" y="469681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AB0B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emplate_method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14" y="-156308"/>
            <a:ext cx="10841666" cy="71706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46291" y="1415508"/>
            <a:ext cx="1847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847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AB0B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sign_princi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67" y="274320"/>
            <a:ext cx="11612880" cy="94796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Algorithm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0D2CE"/>
                </a:solidFill>
                <a:latin typeface="Calibri"/>
              </a:defRPr>
            </a:pPr>
            <a:r>
              <a:t>Nearest Neighbor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96596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O(n²)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Greedy heuristic — always visit the closest</a:t>
            </a:r>
            <a:br/>
            <a:r>
              <a:t>unvisited stop from current position.</a:t>
            </a:r>
            <a:br/>
            <a:br/>
            <a:r>
              <a:t>Fast but often suboptimal (no backtracking).</a:t>
            </a:r>
            <a:br/>
            <a:r>
              <a:t>Used as baseline and seed for 2-Opt.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7160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0D2CE"/>
                </a:solidFill>
                <a:latin typeface="Calibri"/>
              </a:defRPr>
            </a:pPr>
            <a:r>
              <a:t>Greedy Edge Insertion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79" y="196596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79" y="19933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O(n² log 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46888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Sort all edges by distance, greedily add</a:t>
            </a:r>
            <a:br/>
            <a:r>
              <a:t>shortest valid edges.</a:t>
            </a:r>
            <a:br/>
            <a:br/>
            <a:r>
              <a:t>Uses Union-Find for cycle detection.</a:t>
            </a:r>
            <a:br/>
            <a:r>
              <a:t>Degree constraint ≤ 2 per node.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8" y="137160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18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0D2CE"/>
                </a:solidFill>
                <a:latin typeface="Calibri"/>
              </a:defRPr>
            </a:pPr>
            <a:r>
              <a:t>2-Opt Improvement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18" y="196596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18" y="19933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O(n³) iterative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8" y="246888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BEE"/>
                </a:solidFill>
                <a:latin typeface="Calibri"/>
              </a:defRPr>
            </a:pPr>
            <a:r>
              <a:t>Starts with NN solution, iteratively</a:t>
            </a:r>
            <a:br/>
            <a:r>
              <a:t>reverses sub-segments.</a:t>
            </a:r>
            <a:br/>
            <a:br/>
            <a:r>
              <a:t>If reversing [i..j] reduces distance → swap.</a:t>
            </a:r>
            <a:br/>
            <a:r>
              <a:t>Repeats until convergence (local optimum).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698480" cy="1188720"/>
          </a:xfrm>
          <a:prstGeom prst="roundRect">
            <a:avLst>
              <a:gd name="adj" fmla="val 3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303520"/>
            <a:ext cx="7132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D2CE"/>
                </a:solidFill>
                <a:latin typeface="Calibri"/>
              </a:defRPr>
            </a:pPr>
            <a:r>
              <a:rPr dirty="0"/>
              <a:t>Performance Comparison (6-node graph)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69279"/>
            <a:ext cx="3474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0EBEE"/>
                </a:solidFill>
                <a:latin typeface="Calibri"/>
              </a:defRPr>
            </a:pPr>
            <a:r>
              <a:rPr lang="en-KZ" dirty="0"/>
              <a:t>· </a:t>
            </a:r>
            <a:r>
              <a:rPr dirty="0"/>
              <a:t>Nearest Neighbor:   95.25 km   143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669280"/>
            <a:ext cx="3200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0EBEE"/>
                </a:solidFill>
                <a:latin typeface="Calibri"/>
              </a:defRPr>
            </a:pPr>
            <a:r>
              <a:rPr lang="en-KZ" dirty="0"/>
              <a:t>· </a:t>
            </a:r>
            <a:r>
              <a:rPr dirty="0"/>
              <a:t>Greedy Edge:   89.50 km   134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669280"/>
            <a:ext cx="3200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0EBEE"/>
                </a:solidFill>
                <a:latin typeface="Calibri"/>
              </a:defRPr>
            </a:pPr>
            <a:r>
              <a:rPr lang="en-KZ" dirty="0"/>
              <a:t>· </a:t>
            </a:r>
            <a:r>
              <a:rPr dirty="0"/>
              <a:t>2-Opt:   87.50 km    131 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Test Case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D2CE"/>
                </a:solidFill>
                <a:latin typeface="Calibri"/>
              </a:defRPr>
            </a:pPr>
            <a:r>
              <a:rPr dirty="0"/>
              <a:t>JUnit 5  ·  30+ Tests  ·  8 Test Classes  ·  All Passing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238627"/>
              </p:ext>
            </p:extLst>
          </p:nvPr>
        </p:nvGraphicFramePr>
        <p:xfrm>
          <a:off x="731520" y="2286000"/>
          <a:ext cx="10698480" cy="3110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35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A0D2CE"/>
                          </a:solidFill>
                          <a:latin typeface="Calibri"/>
                        </a:defRPr>
                      </a:pPr>
                      <a:r>
                        <a:t>Test Class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A0D2CE"/>
                          </a:solidFill>
                          <a:latin typeface="Calibri"/>
                        </a:defRPr>
                      </a:pPr>
                      <a:r>
                        <a:t># Tests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A0D2CE"/>
                          </a:solidFill>
                          <a:latin typeface="Calibri"/>
                        </a:defRPr>
                      </a:pPr>
                      <a:r>
                        <a:t>What's Tested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35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NearestNeighborStrategyTest</a:t>
                      </a:r>
                    </a:p>
                  </a:txBody>
                  <a:tcPr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Basic routing, equal distances, single stop, depot return</a:t>
                      </a:r>
                    </a:p>
                  </a:txBody>
                  <a:tcPr>
                    <a:solidFill>
                      <a:srgbClr val="16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35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GreedyEdgeStrategyTest</a:t>
                      </a:r>
                    </a:p>
                  </a:txBody>
                  <a:tcPr>
                    <a:solidFill>
                      <a:srgbClr val="1225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225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All stops visited, correct distance, depot first/last</a:t>
                      </a:r>
                    </a:p>
                  </a:txBody>
                  <a:tcPr>
                    <a:solidFill>
                      <a:srgbClr val="12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35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TwoOptStrategyTest</a:t>
                      </a:r>
                    </a:p>
                  </a:txBody>
                  <a:tcPr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Improves on NN, already optimal, single stop valid</a:t>
                      </a:r>
                    </a:p>
                  </a:txBody>
                  <a:tcPr>
                    <a:solidFill>
                      <a:srgbClr val="16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35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DeliveryGraphTest</a:t>
                      </a:r>
                    </a:p>
                  </a:txBody>
                  <a:tcPr>
                    <a:solidFill>
                      <a:srgbClr val="1225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25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Symmetric/asymmetric, non-square, negative distances</a:t>
                      </a:r>
                    </a:p>
                  </a:txBody>
                  <a:tcPr>
                    <a:solidFill>
                      <a:srgbClr val="12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35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CsvMatrixReaderTest</a:t>
                      </a:r>
                    </a:p>
                  </a:txBody>
                  <a:tcPr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Valid parse, non-square throws, missing file</a:t>
                      </a:r>
                    </a:p>
                  </a:txBody>
                  <a:tcPr>
                    <a:solidFill>
                      <a:srgbClr val="16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354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rPr dirty="0" err="1"/>
                        <a:t>ConstraintCheckerTest</a:t>
                      </a:r>
                      <a:endParaRPr dirty="0"/>
                    </a:p>
                  </a:txBody>
                  <a:tcPr>
                    <a:solidFill>
                      <a:srgbClr val="1225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225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E0EBEE"/>
                          </a:solidFill>
                          <a:latin typeface="Calibri"/>
                        </a:defRPr>
                      </a:pPr>
                      <a:r>
                        <a:rPr dirty="0"/>
                        <a:t>Priority ordering, time windows, early/late arrival</a:t>
                      </a:r>
                    </a:p>
                  </a:txBody>
                  <a:tcPr>
                    <a:solidFill>
                      <a:srgbClr val="12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Team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303520" cy="5029200"/>
          </a:xfrm>
          <a:prstGeom prst="roundRect">
            <a:avLst>
              <a:gd name="adj" fmla="val 4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800" cy="484632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0D2CE"/>
                </a:solidFill>
                <a:latin typeface="Calibri"/>
              </a:defRPr>
            </a:pPr>
            <a:r>
              <a:t>Challenges Faced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1. Greedy Edge with Union-Find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Implementing cycle detection with disjoint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sets and degree constraints was complex.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2. Multiple Constraint Types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Balancing capacity, time windows, and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priority ordering simultaneously.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3. Extensibility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Designing for easy addition of new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algorithms without breaking existing code.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4. Coordination &amp; Integration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Merging work from 4 members across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algorithm, observer, and reporting modules.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5029200" cy="5029200"/>
          </a:xfrm>
          <a:prstGeom prst="roundRect">
            <a:avLst>
              <a:gd name="adj" fmla="val 4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0800" cy="484632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0D2CE"/>
                </a:solidFill>
                <a:latin typeface="Calibri"/>
              </a:defRPr>
            </a:pPr>
            <a:r>
              <a:t>How We Addressed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2024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Strategy Pattern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Plug-and-play algorithm architecture.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Each member implemented their strategy.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Observer Pattern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Decoupled logging from business logic.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Observer module developed independently.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Template Method Pattern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Standardized report sections.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I/O team only overrides formatting.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Regular Team Meetings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Weekly sync to review progress, resolve</a:t>
            </a:r>
          </a:p>
          <a:p>
            <a:pPr>
              <a:spcAft>
                <a:spcPts val="200"/>
              </a:spcAft>
              <a:defRPr sz="1400">
                <a:solidFill>
                  <a:srgbClr val="E0EBEE"/>
                </a:solidFill>
                <a:latin typeface="Calibri"/>
              </a:defRPr>
            </a:pPr>
            <a:r>
              <a:t>   integration issues, and plan next steps.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Lifecycle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0D2CE"/>
                </a:solidFill>
                <a:latin typeface="Calibri"/>
              </a:defRPr>
            </a:pPr>
            <a:r>
              <a:t>Build System: Maven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maven-compiler-plugin → Java 11 compilation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maven-surefire-plugin → automated test execution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maven-shade-plugin → fat JAR to Release/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Dependencies: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  Gson 2.10.1 (JSON)  ·  JUnit 5.10.2 (Testing)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0D2CE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Build:   ./mvnw clean package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Test:    ./mvnw test (30+ tests, all passing)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Package: JAR → Release/DeliveryRouteOptimizer.jar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Version Control: Git + GitHub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 b="0">
                <a:solidFill>
                  <a:srgbClr val="E0EBEE"/>
                </a:solidFill>
                <a:latin typeface="Calibri"/>
              </a:defRPr>
            </a:pPr>
            <a:r>
              <a:t>  Structured commits · Feature branching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16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0D2CE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E0EBEE"/>
                </a:solidFill>
                <a:latin typeface="Calibri"/>
              </a:defRPr>
            </a:pPr>
            <a:r>
              <a:t>Source/          Maven project (src/main/java + src/test/java)         8 packages, 15+ classes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E0EBEE"/>
                </a:solidFill>
                <a:latin typeface="Calibri"/>
              </a:defRPr>
            </a:pPr>
            <a:r>
              <a:t>Release/         Compiled JAR (DeliveryRouteOptimizer.jar)             Ready-to-run artifact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E0EBEE"/>
                </a:solidFill>
                <a:latin typeface="Calibri"/>
              </a:defRPr>
            </a:pPr>
            <a:r>
              <a:t>data/            Sample input files (distances.csv, packages.json)     Test data included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E0EBEE"/>
                </a:solidFill>
                <a:latin typeface="Calibri"/>
              </a:defRPr>
            </a:pPr>
            <a:r>
              <a:t>Docs/            User Manual, Installation Guide, Reports              Full documentation suite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 b="0">
                <a:solidFill>
                  <a:srgbClr val="E0EBEE"/>
                </a:solidFill>
                <a:latin typeface="Calibri"/>
              </a:defRPr>
            </a:pPr>
            <a:r>
              <a:t>logs/            Runtime event logs (events.log)                       Observer-generated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25400"/>
          </a:xfrm>
          <a:prstGeom prst="rect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417320"/>
            <a:ext cx="365760" cy="365760"/>
          </a:xfrm>
          <a:prstGeom prst="ellipse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35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2CE"/>
                </a:solidFill>
                <a:latin typeface="Calibri"/>
              </a:defRPr>
            </a:pPr>
            <a:r>
              <a:t>Modular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990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BEE"/>
                </a:solidFill>
                <a:latin typeface="Calibri"/>
              </a:defRPr>
            </a:pPr>
            <a:r>
              <a:t>Clean separation via Strategy, Observer, Template Method patterns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103120"/>
            <a:ext cx="365760" cy="365760"/>
          </a:xfrm>
          <a:prstGeom prst="ellipse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2CE"/>
                </a:solidFill>
                <a:latin typeface="Calibri"/>
              </a:defRPr>
            </a:pPr>
            <a:r>
              <a:t>3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848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BEE"/>
                </a:solidFill>
                <a:latin typeface="Calibri"/>
              </a:defRPr>
            </a:pPr>
            <a:r>
              <a:t>Nearest Neighbor, Greedy Edge Insertion, 2-Opt Improvement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788920"/>
            <a:ext cx="365760" cy="365760"/>
          </a:xfrm>
          <a:prstGeom prst="ellipse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8072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2CE"/>
                </a:solidFill>
                <a:latin typeface="Calibri"/>
              </a:defRPr>
            </a:pPr>
            <a:r>
              <a:t>Real-world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706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BEE"/>
                </a:solidFill>
                <a:latin typeface="Calibri"/>
              </a:defRPr>
            </a:pPr>
            <a:r>
              <a:t>Vehicle capacity, time windows, delivery priorities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474720"/>
            <a:ext cx="365760" cy="365760"/>
          </a:xfrm>
          <a:prstGeom prst="ellipse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4930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2CE"/>
                </a:solidFill>
                <a:latin typeface="Calibri"/>
              </a:defRPr>
            </a:pPr>
            <a:r>
              <a:t>Comprehensive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564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BEE"/>
                </a:solidFill>
                <a:latin typeface="Calibri"/>
              </a:defRPr>
            </a:pPr>
            <a:r>
              <a:t>30+ JUnit 5 tests across 8 test classes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158488"/>
            <a:ext cx="365760" cy="365760"/>
          </a:xfrm>
          <a:prstGeom prst="ellipse">
            <a:avLst/>
          </a:prstGeom>
          <a:solidFill>
            <a:srgbClr val="4A8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1767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112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D2CE"/>
                </a:solidFill>
                <a:latin typeface="Calibri"/>
              </a:defRPr>
            </a:pPr>
            <a:r>
              <a:t>Production-ready CLI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140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BEE"/>
                </a:solidFill>
                <a:latin typeface="Calibri"/>
              </a:defRPr>
            </a:pPr>
            <a:r>
              <a:t>Fat JAR with Maven build, sample data, demo script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6760" y="5120641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9312" y="5340207"/>
            <a:ext cx="10393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B0BE"/>
                </a:solidFill>
                <a:latin typeface="Calibri"/>
              </a:defRPr>
            </a:pPr>
            <a:r>
              <a:rPr dirty="0"/>
              <a:t>Acknowledgement of AI</a:t>
            </a:r>
            <a:r>
              <a:rPr lang="en-US" dirty="0"/>
              <a:t> usage</a:t>
            </a:r>
            <a:r>
              <a:rPr dirty="0"/>
              <a:t>: AI tools were used to</a:t>
            </a:r>
            <a:r>
              <a:rPr lang="en-US" dirty="0"/>
              <a:t> brainstorm project ideas and</a:t>
            </a:r>
            <a:r>
              <a:rPr dirty="0"/>
              <a:t> assist with </a:t>
            </a:r>
            <a:r>
              <a:rPr lang="en-US" dirty="0"/>
              <a:t>code generation during the problems faced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1096</Words>
  <Application>Microsoft Macintosh PowerPoint</Application>
  <PresentationFormat>Widescreen</PresentationFormat>
  <Paragraphs>216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LESSOV Akniyet</cp:lastModifiedBy>
  <cp:revision>7</cp:revision>
  <dcterms:created xsi:type="dcterms:W3CDTF">2013-01-27T09:14:16Z</dcterms:created>
  <dcterms:modified xsi:type="dcterms:W3CDTF">2026-04-14T18:35:37Z</dcterms:modified>
  <cp:category/>
</cp:coreProperties>
</file>