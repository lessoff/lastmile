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71" r:id="rId12"/>
    <p:sldId id="272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8"/>
    <p:restoredTop sz="94684"/>
  </p:normalViewPr>
  <p:slideViewPr>
    <p:cSldViewPr snapToGrid="0" snapToObjects="1">
      <p:cViewPr varScale="1">
        <p:scale>
          <a:sx n="120" d="100"/>
          <a:sy n="120" d="100"/>
        </p:scale>
        <p:origin x="192" y="2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772400" y="-914400"/>
            <a:ext cx="5486400" cy="5486400"/>
          </a:xfrm>
          <a:prstGeom prst="ellipse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1828800" y="3657600"/>
            <a:ext cx="4572000" cy="4572000"/>
          </a:xfrm>
          <a:prstGeom prst="ellipse">
            <a:avLst/>
          </a:prstGeom>
          <a:solidFill>
            <a:srgbClr val="12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1645920"/>
            <a:ext cx="9144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rPr lang="en-US" dirty="0" err="1"/>
              <a:t>LastMile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A0D2CE"/>
                </a:solidFill>
                <a:latin typeface="Calibri"/>
              </a:defRPr>
            </a:pPr>
            <a:r>
              <a:t>Delivery Route Optimizer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566160"/>
            <a:ext cx="2743200" cy="2540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7AB0BE"/>
                </a:solidFill>
                <a:latin typeface="Calibri"/>
              </a:defRPr>
            </a:pPr>
            <a:r>
              <a:t>CS3342 Software Design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389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9AAA"/>
                </a:solidFill>
                <a:latin typeface="Calibri"/>
              </a:defRPr>
            </a:pPr>
            <a:r>
              <a:t>Optimizing delivery routes using heuristic algorithms &amp; design patterns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4320"/>
            <a:ext cx="12192000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Group Members — Team 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2743200" cy="2540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7AB0BE"/>
                </a:solidFill>
                <a:latin typeface="Calibri"/>
              </a:defRPr>
            </a:pPr>
            <a:r>
              <a:t>Project: LastMile — Delivery Route Optimizer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303520" cy="2423160"/>
          </a:xfrm>
          <a:prstGeom prst="roundRect">
            <a:avLst>
              <a:gd name="adj" fmla="val 4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618488"/>
            <a:ext cx="50800" cy="2203704"/>
          </a:xfrm>
          <a:prstGeom prst="rect">
            <a:avLst/>
          </a:prstGeom>
          <a:solidFill>
            <a:srgbClr val="A0D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A0D2CE"/>
                </a:solidFill>
                <a:latin typeface="Calibri"/>
              </a:defRPr>
            </a:pPr>
            <a:r>
              <a:t>Lessov Akniyet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2039112"/>
            <a:ext cx="2743200" cy="320040"/>
          </a:xfrm>
          <a:prstGeom prst="roundRect">
            <a:avLst>
              <a:gd name="adj" fmla="val 10000"/>
            </a:avLst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057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AB0BE"/>
                </a:solidFill>
                <a:latin typeface="Calibri"/>
              </a:defRPr>
            </a:pPr>
            <a:r>
              <a:t>Project Lead &amp; Architect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46888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t>▸  Project planning &amp; management</a:t>
            </a:r>
          </a:p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t>▸  System architecture design</a:t>
            </a:r>
          </a:p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t>▸  Strategy pattern (algorithm/)</a:t>
            </a:r>
          </a:p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t>▸  2-Opt algorithm implementation</a:t>
            </a:r>
          </a:p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t>▸  Maven build &amp; CI/CD pipeline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508760"/>
            <a:ext cx="5303520" cy="2423160"/>
          </a:xfrm>
          <a:prstGeom prst="roundRect">
            <a:avLst>
              <a:gd name="adj" fmla="val 4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0" y="1618488"/>
            <a:ext cx="50800" cy="220370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2084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"/>
              </a:defRPr>
            </a:pPr>
            <a:r>
              <a:t>Bulatov Smadiyar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2039112"/>
            <a:ext cx="2743200" cy="320040"/>
          </a:xfrm>
          <a:prstGeom prst="roundRect">
            <a:avLst>
              <a:gd name="adj" fmla="val 10000"/>
            </a:avLst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20840" y="2057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AB0BE"/>
                </a:solidFill>
                <a:latin typeface="Calibri"/>
              </a:defRPr>
            </a:pPr>
            <a:r>
              <a:t>Backend Developer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46888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t>▸  Nearest Neighbor algorithm</a:t>
            </a:r>
          </a:p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t>▸  Greedy Edge + Union-Find</a:t>
            </a:r>
          </a:p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t>▸  Route &amp; DeliveryGraph models</a:t>
            </a:r>
          </a:p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t>▸  Capacity splitting logic</a:t>
            </a:r>
          </a:p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t>▸  Input validation &amp; exceptions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160520"/>
            <a:ext cx="5303520" cy="2423160"/>
          </a:xfrm>
          <a:prstGeom prst="roundRect">
            <a:avLst>
              <a:gd name="adj" fmla="val 4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4270248"/>
            <a:ext cx="50800" cy="220370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"/>
              </a:defRPr>
            </a:pPr>
            <a:r>
              <a:t>Naumov Iusuf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" y="4690872"/>
            <a:ext cx="2743200" cy="320040"/>
          </a:xfrm>
          <a:prstGeom prst="roundRect">
            <a:avLst>
              <a:gd name="adj" fmla="val 10000"/>
            </a:avLst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4709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AB0BE"/>
                </a:solidFill>
                <a:latin typeface="Calibri"/>
              </a:defRPr>
            </a:pPr>
            <a:r>
              <a:t>QA &amp; Observer Module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12064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rPr dirty="0"/>
              <a:t>▸  Observer pattern (observer/)</a:t>
            </a:r>
          </a:p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rPr dirty="0"/>
              <a:t>▸  </a:t>
            </a:r>
            <a:r>
              <a:rPr dirty="0" err="1"/>
              <a:t>ConsoleLogger</a:t>
            </a:r>
            <a:r>
              <a:rPr dirty="0"/>
              <a:t> &amp; </a:t>
            </a:r>
            <a:r>
              <a:rPr dirty="0" err="1"/>
              <a:t>FileLogger</a:t>
            </a:r>
            <a:endParaRPr dirty="0"/>
          </a:p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rPr dirty="0"/>
              <a:t>▸  </a:t>
            </a:r>
            <a:r>
              <a:rPr dirty="0" err="1"/>
              <a:t>ConstraintChecker</a:t>
            </a:r>
            <a:r>
              <a:rPr dirty="0"/>
              <a:t> implementation</a:t>
            </a:r>
          </a:p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rPr dirty="0"/>
              <a:t>▸  JUnit 5 test suite (30+ tests)</a:t>
            </a:r>
          </a:p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rPr dirty="0"/>
              <a:t>▸  Test strategy &amp; coverage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4160520"/>
            <a:ext cx="5303520" cy="2423160"/>
          </a:xfrm>
          <a:prstGeom prst="roundRect">
            <a:avLst>
              <a:gd name="adj" fmla="val 4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00800" y="4270248"/>
            <a:ext cx="50800" cy="220370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2084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Calibri"/>
              </a:defRPr>
            </a:pPr>
            <a:r>
              <a:t>Tursynov Birzhan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4690872"/>
            <a:ext cx="2743200" cy="320040"/>
          </a:xfrm>
          <a:prstGeom prst="roundRect">
            <a:avLst>
              <a:gd name="adj" fmla="val 10000"/>
            </a:avLst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20840" y="4709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AB0BE"/>
                </a:solidFill>
                <a:latin typeface="Calibri"/>
              </a:defRPr>
            </a:pPr>
            <a:r>
              <a:t>I/O &amp;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293312"/>
            <a:ext cx="4663440" cy="1007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rPr dirty="0"/>
              <a:t>▸  Template Method (report/)</a:t>
            </a:r>
          </a:p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rPr dirty="0"/>
              <a:t>▸  Console &amp; File ReportGenerator</a:t>
            </a:r>
          </a:p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rPr dirty="0"/>
              <a:t>▸  </a:t>
            </a:r>
            <a:r>
              <a:rPr dirty="0" err="1"/>
              <a:t>CsvMatrixReader</a:t>
            </a:r>
            <a:r>
              <a:rPr dirty="0"/>
              <a:t> &amp; </a:t>
            </a:r>
            <a:r>
              <a:rPr dirty="0" err="1"/>
              <a:t>JsonReader</a:t>
            </a:r>
            <a:endParaRPr dirty="0"/>
          </a:p>
          <a:p>
            <a:pPr>
              <a:spcAft>
                <a:spcPts val="300"/>
              </a:spcAft>
              <a:defRPr sz="1300">
                <a:solidFill>
                  <a:srgbClr val="E0EBEE"/>
                </a:solidFill>
                <a:latin typeface="Calibri"/>
              </a:defRPr>
            </a:pPr>
            <a:r>
              <a:rPr dirty="0"/>
              <a:t>▸  User Manual &amp; Install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2286000" cy="2540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83280" cy="4114800"/>
          </a:xfrm>
          <a:prstGeom prst="roundRect">
            <a:avLst>
              <a:gd name="adj" fmla="val 5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0D2CE"/>
                </a:solidFill>
                <a:latin typeface="Calibri"/>
              </a:defRPr>
            </a:pPr>
            <a:r>
              <a:t>What does it 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2834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A Java CLI application that computes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optimized delivery routes.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endParaRPr/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Compares 3 routing algorithms on a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given distance matrix.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endParaRPr/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Handles real-world constraints: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  - Vehicle capacity limits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  - Time window enforcement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  - Delivery priority ordering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371600"/>
            <a:ext cx="3383280" cy="4114800"/>
          </a:xfrm>
          <a:prstGeom prst="roundRect">
            <a:avLst>
              <a:gd name="adj" fmla="val 5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1554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0D2CE"/>
                </a:solidFill>
                <a:latin typeface="Calibri"/>
              </a:defRPr>
            </a:pPr>
            <a:r>
              <a:t>Who are the users?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65960"/>
            <a:ext cx="2834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Logistics companies planning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daily delivery schedules.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endParaRPr/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Fleet managers optimizing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driver routes.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endParaRPr/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Route planners seeking to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minimize fuel costs and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delivery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371600"/>
            <a:ext cx="3383280" cy="4114800"/>
          </a:xfrm>
          <a:prstGeom prst="roundRect">
            <a:avLst>
              <a:gd name="adj" fmla="val 5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03920" y="1554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0D2CE"/>
                </a:solidFill>
                <a:latin typeface="Calibri"/>
              </a:defRPr>
            </a:pPr>
            <a:r>
              <a:t>Why this project?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1965960"/>
            <a:ext cx="2834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Manual route planning is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inefficient and costly.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endParaRPr/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Optimized routing reduces: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  - Fuel costs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  - Delivery time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  - CO2 emissions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endParaRPr/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Based on the TSP — a classic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NP-hard optimization problem.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Project Objective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2286000" cy="2540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1097280"/>
          </a:xfrm>
          <a:prstGeom prst="roundRect">
            <a:avLst>
              <a:gd name="adj" fmla="val 3000"/>
            </a:avLst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50800" cy="1097280"/>
          </a:xfrm>
          <a:prstGeom prst="rect">
            <a:avLst/>
          </a:prstGeom>
          <a:solidFill>
            <a:srgbClr val="A0D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Build a modular, extensible route optimization CLI tool that compares</a:t>
            </a:r>
            <a:br/>
            <a:r>
              <a:t>multiple heuristic algorithms under real-world delivery constraints.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4640"/>
            <a:ext cx="3383280" cy="1554480"/>
          </a:xfrm>
          <a:prstGeom prst="roundRect">
            <a:avLst>
              <a:gd name="adj" fmla="val 5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2971800"/>
            <a:ext cx="50800" cy="118872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971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0D2CE"/>
                </a:solidFill>
                <a:latin typeface="Calibri"/>
              </a:defRPr>
            </a:pPr>
            <a:r>
              <a:t>Load 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832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BEE"/>
                </a:solidFill>
                <a:latin typeface="Calibri"/>
              </a:defRPr>
            </a:pPr>
            <a:r>
              <a:t>CSV distance matrices</a:t>
            </a:r>
            <a:br/>
            <a:r>
              <a:t>JSON package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834640"/>
            <a:ext cx="3383280" cy="1554480"/>
          </a:xfrm>
          <a:prstGeom prst="roundRect">
            <a:avLst>
              <a:gd name="adj" fmla="val 5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20" y="2971800"/>
            <a:ext cx="50800" cy="118872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09160" y="2971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0D2CE"/>
                </a:solidFill>
                <a:latin typeface="Calibri"/>
              </a:defRPr>
            </a:pPr>
            <a:r>
              <a:t>3 Algorithms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383280"/>
            <a:ext cx="29260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E0EBEE"/>
                </a:solidFill>
                <a:latin typeface="Calibri"/>
              </a:defRPr>
            </a:pPr>
            <a:r>
              <a:rPr lang="en-KZ" dirty="0"/>
              <a:t>· </a:t>
            </a:r>
            <a:r>
              <a:rPr dirty="0"/>
              <a:t>Nearest Neighbor</a:t>
            </a:r>
            <a:br>
              <a:rPr dirty="0"/>
            </a:br>
            <a:r>
              <a:rPr lang="en-KZ" dirty="0"/>
              <a:t>· </a:t>
            </a:r>
            <a:r>
              <a:rPr dirty="0"/>
              <a:t>Greedy Edge</a:t>
            </a:r>
            <a:endParaRPr lang="en-US" dirty="0"/>
          </a:p>
          <a:p>
            <a:pPr>
              <a:defRPr sz="1400" b="0">
                <a:solidFill>
                  <a:srgbClr val="E0EBEE"/>
                </a:solidFill>
                <a:latin typeface="Calibri"/>
              </a:defRPr>
            </a:pPr>
            <a:r>
              <a:rPr lang="en-KZ" dirty="0"/>
              <a:t>· </a:t>
            </a:r>
            <a:r>
              <a:rPr dirty="0"/>
              <a:t>2-Opt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834640"/>
            <a:ext cx="3383280" cy="1554480"/>
          </a:xfrm>
          <a:prstGeom prst="roundRect">
            <a:avLst>
              <a:gd name="adj" fmla="val 5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46720" y="2971800"/>
            <a:ext cx="50800" cy="118872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66760" y="2971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0D2CE"/>
                </a:solidFill>
                <a:latin typeface="Calibri"/>
              </a:defRPr>
            </a:pPr>
            <a:r>
              <a:t>Capacity Splitting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3832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BEE"/>
                </a:solidFill>
                <a:latin typeface="Calibri"/>
              </a:defRPr>
            </a:pPr>
            <a:r>
              <a:t>Multi-trip routing when</a:t>
            </a:r>
            <a:br/>
            <a:r>
              <a:t>vehicle weight exceeded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663440"/>
            <a:ext cx="3383280" cy="1554480"/>
          </a:xfrm>
          <a:prstGeom prst="roundRect">
            <a:avLst>
              <a:gd name="adj" fmla="val 5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4800600"/>
            <a:ext cx="50800" cy="118872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51560" y="4800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0D2CE"/>
                </a:solidFill>
                <a:latin typeface="Calibri"/>
              </a:defRPr>
            </a:pPr>
            <a:r>
              <a:t>Constraint Checking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212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BEE"/>
                </a:solidFill>
                <a:latin typeface="Calibri"/>
              </a:defRPr>
            </a:pPr>
            <a:r>
              <a:t>Time windows &amp;</a:t>
            </a:r>
            <a:br/>
            <a:r>
              <a:t>priority enforcement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4663440"/>
            <a:ext cx="3383280" cy="1554480"/>
          </a:xfrm>
          <a:prstGeom prst="roundRect">
            <a:avLst>
              <a:gd name="adj" fmla="val 5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89120" y="4800600"/>
            <a:ext cx="50800" cy="118872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09160" y="4800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0D2CE"/>
                </a:solidFill>
                <a:latin typeface="Calibri"/>
              </a:defRPr>
            </a:pPr>
            <a:r>
              <a:t>Report Generation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5212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BEE"/>
                </a:solidFill>
                <a:latin typeface="Calibri"/>
              </a:defRPr>
            </a:pPr>
            <a:r>
              <a:t>Console + file output</a:t>
            </a:r>
            <a:br/>
            <a:r>
              <a:t>with comparison tables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663440"/>
            <a:ext cx="3383280" cy="1554480"/>
          </a:xfrm>
          <a:prstGeom prst="roundRect">
            <a:avLst>
              <a:gd name="adj" fmla="val 5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046720" y="4800600"/>
            <a:ext cx="50800" cy="118872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66760" y="4800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0D2CE"/>
                </a:solidFill>
                <a:latin typeface="Calibri"/>
              </a:defRPr>
            </a:pPr>
            <a:r>
              <a:t>Event Logging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5212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BEE"/>
                </a:solidFill>
                <a:latin typeface="Calibri"/>
              </a:defRPr>
            </a:pPr>
            <a:r>
              <a:t>Real-time observer-based</a:t>
            </a:r>
            <a:br/>
            <a:r>
              <a:t>console &amp; file logging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Use Case Modeling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2286000" cy="2540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2369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AB0BE"/>
                </a:solidFill>
                <a:latin typeface="Calibri"/>
              </a:defRPr>
            </a:pPr>
            <a:r>
              <a:rPr dirty="0"/>
              <a:t>Primary Actor: Route Planner / Fleet Manager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8036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6311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UC1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6037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0D2CE"/>
                </a:solidFill>
                <a:latin typeface="Calibri"/>
              </a:defRPr>
            </a:pPr>
            <a:r>
              <a:t>Load Distance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603756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BEE"/>
                </a:solidFill>
                <a:latin typeface="Calibri"/>
              </a:defRPr>
            </a:pPr>
            <a:r>
              <a:t>Import CSV file with inter-stop distances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16404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289556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UC2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262124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0D2CE"/>
                </a:solidFill>
                <a:latin typeface="Calibri"/>
              </a:defRPr>
            </a:pPr>
            <a:r>
              <a:t>Load Package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62124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BEE"/>
                </a:solidFill>
                <a:latin typeface="Calibri"/>
              </a:defRPr>
            </a:pPr>
            <a:r>
              <a:t>Import JSON with delivery details, priorities, time windows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74772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947924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UC3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9204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0D2CE"/>
                </a:solidFill>
                <a:latin typeface="Calibri"/>
              </a:defRPr>
            </a:pPr>
            <a:r>
              <a:t>Select Algorithm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920492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BEE"/>
                </a:solidFill>
                <a:latin typeface="Calibri"/>
              </a:defRPr>
            </a:pPr>
            <a:r>
              <a:t>Choose NN, Greedy Edge, 2-Opt, or compare all three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53314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360629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UC4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5788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0D2CE"/>
                </a:solidFill>
                <a:latin typeface="Calibri"/>
              </a:defRPr>
            </a:pPr>
            <a:r>
              <a:t>Set Capacity Constraint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7886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BEE"/>
                </a:solidFill>
                <a:latin typeface="Calibri"/>
              </a:defRPr>
            </a:pPr>
            <a:r>
              <a:t>Define vehicle weight limit for multi-trip splitting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191508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426466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UC5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23722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0D2CE"/>
                </a:solidFill>
                <a:latin typeface="Calibri"/>
              </a:defRPr>
            </a:pPr>
            <a:r>
              <a:t>Run Optimization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237228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BEE"/>
                </a:solidFill>
                <a:latin typeface="Calibri"/>
              </a:defRPr>
            </a:pPr>
            <a:r>
              <a:t>Compute optimal delivery routes with selected algorithm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849876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492302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UC6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89559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0D2CE"/>
                </a:solidFill>
                <a:latin typeface="Calibri"/>
              </a:defRPr>
            </a:pPr>
            <a:r>
              <a:t>View 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895596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BEE"/>
                </a:solidFill>
                <a:latin typeface="Calibri"/>
              </a:defRPr>
            </a:pPr>
            <a:r>
              <a:t>See route sequence, distances, time windows, violations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508244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5581396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UC7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553964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0D2CE"/>
                </a:solidFill>
                <a:latin typeface="Calibri"/>
              </a:defRPr>
            </a:pPr>
            <a:r>
              <a:t>Export 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561321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BEE"/>
                </a:solidFill>
                <a:latin typeface="Calibri"/>
              </a:defRPr>
            </a:pPr>
            <a:r>
              <a:rPr dirty="0"/>
              <a:t>Save detailed results to output file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6128249"/>
            <a:ext cx="10698480" cy="502920"/>
          </a:xfrm>
          <a:prstGeom prst="roundRect">
            <a:avLst>
              <a:gd name="adj" fmla="val 3000"/>
            </a:avLst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2000" y="621968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AB0BE"/>
                </a:solidFill>
                <a:latin typeface="Calibri"/>
              </a:defRPr>
            </a:pPr>
            <a:r>
              <a:rPr dirty="0"/>
              <a:t>Includes:  Input validation  ·  Constraint checking  ·  Multi-trip splitting  ·  Observer notifications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System Prototype &amp;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2286000" cy="2540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400800" cy="3017520"/>
          </a:xfrm>
          <a:prstGeom prst="roundRect">
            <a:avLst>
              <a:gd name="adj" fmla="val 3000"/>
            </a:avLst>
          </a:prstGeom>
          <a:solidFill>
            <a:srgbClr val="0A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6400800" cy="365760"/>
          </a:xfrm>
          <a:prstGeom prst="rect">
            <a:avLst/>
          </a:prstGeom>
          <a:solidFill>
            <a:srgbClr val="1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38988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90A0"/>
                </a:solidFill>
                <a:latin typeface="Calibri"/>
              </a:defRPr>
            </a:pPr>
            <a:r>
              <a:t>Terminal — DeliveryRouteOptimizer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5943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D080"/>
                </a:solidFill>
                <a:latin typeface="Courier New"/>
              </a:defRPr>
            </a:pPr>
            <a:r>
              <a:t>$ java -jar DeliveryRouteOptimizer.jar \</a:t>
            </a:r>
            <a:br/>
            <a:r>
              <a:t>    --matrix data/distances.csv \</a:t>
            </a:r>
            <a:br/>
            <a:r>
              <a:t>    --packages data/packages.json \</a:t>
            </a:r>
            <a:br/>
            <a:r>
              <a:t>    --algorithm all --capacity 50</a:t>
            </a:r>
            <a:br/>
            <a:br/>
            <a:r>
              <a:t>[LOG] Reached stop A (123 Main St) at 08:33</a:t>
            </a:r>
            <a:br/>
            <a:r>
              <a:t>[LOG] Reached stop B (456 Oak Ave) at 09:18</a:t>
            </a:r>
            <a:br/>
            <a:r>
              <a:t>[LOG] Route complete (2-Opt). Distance: 87.50 km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371600"/>
            <a:ext cx="3931920" cy="5029200"/>
          </a:xfrm>
          <a:prstGeom prst="roundRect">
            <a:avLst>
              <a:gd name="adj" fmla="val 5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79" y="859536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0D2CE"/>
                </a:solidFill>
                <a:latin typeface="Calibri"/>
              </a:defRPr>
            </a:pPr>
            <a:r>
              <a:rPr dirty="0"/>
              <a:t>Execution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77806" y="1549908"/>
            <a:ext cx="3383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r>
              <a:rPr dirty="0"/>
              <a:t>1. Parse CLI arguments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r>
              <a:rPr dirty="0"/>
              <a:t>   (matrix, packages, algorithm, capacity)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endParaRPr dirty="0"/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r>
              <a:rPr dirty="0"/>
              <a:t>2. Load &amp; validate inputs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r>
              <a:rPr dirty="0"/>
              <a:t>   CSV matrix + JSON packages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endParaRPr dirty="0"/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r>
              <a:rPr dirty="0"/>
              <a:t>3. Split into trips if capacity exceeded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r>
              <a:rPr dirty="0"/>
              <a:t>   Priority-based packing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endParaRPr dirty="0"/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r>
              <a:rPr dirty="0"/>
              <a:t>4. Run selected algorithm(s)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r>
              <a:rPr dirty="0"/>
              <a:t>   on each trip independently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endParaRPr dirty="0"/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r>
              <a:rPr dirty="0"/>
              <a:t>5. Replay route at 40 km/h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r>
              <a:rPr dirty="0"/>
              <a:t>   Check constraints via Observers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endParaRPr dirty="0"/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r>
              <a:rPr dirty="0"/>
              <a:t>6. Generate reports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r>
              <a:rPr dirty="0"/>
              <a:t>   Console + file output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63440"/>
            <a:ext cx="6400800" cy="1645920"/>
          </a:xfrm>
          <a:prstGeom prst="roundRect">
            <a:avLst>
              <a:gd name="adj" fmla="val 4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7548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0D2CE"/>
                </a:solidFill>
                <a:latin typeface="Calibri"/>
              </a:defRPr>
            </a:pPr>
            <a:r>
              <a:t>Sample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120640"/>
            <a:ext cx="5943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BEE"/>
                </a:solidFill>
                <a:latin typeface="Calibri"/>
              </a:defRPr>
            </a:pPr>
            <a:r>
              <a:t>Route:  Depot → A → B → D → C → E → Depot</a:t>
            </a:r>
            <a:br/>
            <a:r>
              <a:t>Distance: 87.50 km  |  Time: 131 min  |  Violations: None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equenc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82" y="0"/>
            <a:ext cx="10809766" cy="73560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97553"/>
            <a:ext cx="12192000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604" y="693895"/>
            <a:ext cx="8873756" cy="63114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8627" y="1784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dirty="0"/>
              <a:t>Class Diagram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300724" y="746193"/>
            <a:ext cx="2286000" cy="2540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047461" y="328135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AB0BE"/>
                </a:solidFill>
              </a:defRPr>
            </a:pPr>
            <a:r>
              <a:rPr dirty="0"/>
              <a:t>Full UML class diagram showing all packages, interfaces, and relationships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trategy_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540" y="-255932"/>
            <a:ext cx="11142920" cy="736986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8473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observer_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53" y="-247259"/>
            <a:ext cx="11116694" cy="735251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8473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5101501" y="469681"/>
            <a:ext cx="18473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AB0BE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template_method_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14" y="-156308"/>
            <a:ext cx="10841666" cy="717061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-46291" y="1415508"/>
            <a:ext cx="18473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18473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AB0BE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esign_princ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67" y="274320"/>
            <a:ext cx="11612880" cy="947965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Algorithm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2286000" cy="2540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74720" cy="3474720"/>
          </a:xfrm>
          <a:prstGeom prst="roundRect">
            <a:avLst>
              <a:gd name="adj" fmla="val 4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A0D2CE"/>
                </a:solidFill>
                <a:latin typeface="Calibri"/>
              </a:defRPr>
            </a:pPr>
            <a:r>
              <a:t>Nearest Neighbor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1965960"/>
            <a:ext cx="2011680" cy="365760"/>
          </a:xfrm>
          <a:prstGeom prst="roundRect">
            <a:avLst>
              <a:gd name="adj" fmla="val 10000"/>
            </a:avLst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9933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O(n²)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BEE"/>
                </a:solidFill>
                <a:latin typeface="Calibri"/>
              </a:defRPr>
            </a:pPr>
            <a:r>
              <a:t>Greedy heuristic — always visit the closest</a:t>
            </a:r>
            <a:br/>
            <a:r>
              <a:t>unvisited stop from current position.</a:t>
            </a:r>
            <a:br/>
            <a:br/>
            <a:r>
              <a:t>Fast but often suboptimal (no backtracking).</a:t>
            </a:r>
            <a:br/>
            <a:r>
              <a:t>Used as baseline and seed for 2-Opt.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371600"/>
            <a:ext cx="3474720" cy="3474720"/>
          </a:xfrm>
          <a:prstGeom prst="roundRect">
            <a:avLst>
              <a:gd name="adj" fmla="val 4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79" y="1554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A0D2CE"/>
                </a:solidFill>
                <a:latin typeface="Calibri"/>
              </a:defRPr>
            </a:pPr>
            <a:r>
              <a:t>Greedy Edge Insertion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79" y="1965960"/>
            <a:ext cx="2011680" cy="365760"/>
          </a:xfrm>
          <a:prstGeom prst="roundRect">
            <a:avLst>
              <a:gd name="adj" fmla="val 10000"/>
            </a:avLst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79" y="19933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O(n² log 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46888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BEE"/>
                </a:solidFill>
                <a:latin typeface="Calibri"/>
              </a:defRPr>
            </a:pPr>
            <a:r>
              <a:t>Sort all edges by distance, greedily add</a:t>
            </a:r>
            <a:br/>
            <a:r>
              <a:t>shortest valid edges.</a:t>
            </a:r>
            <a:br/>
            <a:br/>
            <a:r>
              <a:t>Uses Union-Find for cycle detection.</a:t>
            </a:r>
            <a:br/>
            <a:r>
              <a:t>Degree constraint ≤ 2 per node.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598" y="1371600"/>
            <a:ext cx="3474720" cy="3474720"/>
          </a:xfrm>
          <a:prstGeom prst="roundRect">
            <a:avLst>
              <a:gd name="adj" fmla="val 4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03918" y="1554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A0D2CE"/>
                </a:solidFill>
                <a:latin typeface="Calibri"/>
              </a:defRPr>
            </a:pPr>
            <a:r>
              <a:t>2-Opt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18" y="1965960"/>
            <a:ext cx="2011680" cy="365760"/>
          </a:xfrm>
          <a:prstGeom prst="roundRect">
            <a:avLst>
              <a:gd name="adj" fmla="val 10000"/>
            </a:avLst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03918" y="19933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O(n³) iterative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18" y="246888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BEE"/>
                </a:solidFill>
                <a:latin typeface="Calibri"/>
              </a:defRPr>
            </a:pPr>
            <a:r>
              <a:t>Starts with NN solution, iteratively</a:t>
            </a:r>
            <a:br/>
            <a:r>
              <a:t>reverses sub-segments.</a:t>
            </a:r>
            <a:br/>
            <a:br/>
            <a:r>
              <a:t>If reversing [i..j] reduces distance → swap.</a:t>
            </a:r>
            <a:br/>
            <a:r>
              <a:t>Repeats until convergence (local optimum).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212080"/>
            <a:ext cx="10698480" cy="1188720"/>
          </a:xfrm>
          <a:prstGeom prst="roundRect">
            <a:avLst>
              <a:gd name="adj" fmla="val 3000"/>
            </a:avLst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97280" y="5303520"/>
            <a:ext cx="71323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0D2CE"/>
                </a:solidFill>
                <a:latin typeface="Calibri"/>
              </a:defRPr>
            </a:pPr>
            <a:r>
              <a:rPr dirty="0"/>
              <a:t>Performance Comparison (6-node graph)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669279"/>
            <a:ext cx="34747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E0EBEE"/>
                </a:solidFill>
                <a:latin typeface="Calibri"/>
              </a:defRPr>
            </a:pPr>
            <a:r>
              <a:rPr lang="en-KZ" dirty="0"/>
              <a:t>· </a:t>
            </a:r>
            <a:r>
              <a:rPr dirty="0"/>
              <a:t>Nearest Neighbor:   95.25 km   143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669280"/>
            <a:ext cx="3200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E0EBEE"/>
                </a:solidFill>
                <a:latin typeface="Calibri"/>
              </a:defRPr>
            </a:pPr>
            <a:r>
              <a:rPr lang="en-KZ" dirty="0"/>
              <a:t>· </a:t>
            </a:r>
            <a:r>
              <a:rPr dirty="0"/>
              <a:t>Greedy Edge:   89.50 km   134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5669280"/>
            <a:ext cx="3200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E0EBEE"/>
                </a:solidFill>
                <a:latin typeface="Calibri"/>
              </a:defRPr>
            </a:pPr>
            <a:r>
              <a:rPr lang="en-KZ" dirty="0"/>
              <a:t>· </a:t>
            </a:r>
            <a:r>
              <a:rPr dirty="0"/>
              <a:t>2-Opt:   87.50 km    131 min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Test Case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2286000" cy="2540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698480" cy="731520"/>
          </a:xfrm>
          <a:prstGeom prst="roundRect">
            <a:avLst>
              <a:gd name="adj" fmla="val 3000"/>
            </a:avLst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A0D2CE"/>
                </a:solidFill>
                <a:latin typeface="Calibri"/>
              </a:defRPr>
            </a:pPr>
            <a:r>
              <a:rPr dirty="0"/>
              <a:t>JUnit 5  ·  30+ Tests  ·  8 Test Classes  ·  All Passing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4238627"/>
              </p:ext>
            </p:extLst>
          </p:nvPr>
        </p:nvGraphicFramePr>
        <p:xfrm>
          <a:off x="731520" y="2286000"/>
          <a:ext cx="10698480" cy="31104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4354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A0D2CE"/>
                          </a:solidFill>
                          <a:latin typeface="Calibri"/>
                        </a:defRPr>
                      </a:pPr>
                      <a:r>
                        <a:t>Test Class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A0D2CE"/>
                          </a:solidFill>
                          <a:latin typeface="Calibri"/>
                        </a:defRPr>
                      </a:pPr>
                      <a:r>
                        <a:t># Tests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A0D2CE"/>
                          </a:solidFill>
                          <a:latin typeface="Calibri"/>
                        </a:defRPr>
                      </a:pPr>
                      <a:r>
                        <a:t>What's Tested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354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0EBEE"/>
                          </a:solidFill>
                          <a:latin typeface="Calibri"/>
                        </a:defRPr>
                      </a:pPr>
                      <a:r>
                        <a:t>NearestNeighborStrategyTest</a:t>
                      </a:r>
                    </a:p>
                  </a:txBody>
                  <a:tcPr>
                    <a:solidFill>
                      <a:srgbClr val="162A4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0EBEE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62A4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0EBEE"/>
                          </a:solidFill>
                          <a:latin typeface="Calibri"/>
                        </a:defRPr>
                      </a:pPr>
                      <a:r>
                        <a:t>Basic routing, equal distances, single stop, depot return</a:t>
                      </a:r>
                    </a:p>
                  </a:txBody>
                  <a:tcPr>
                    <a:solidFill>
                      <a:srgbClr val="162A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354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0EBEE"/>
                          </a:solidFill>
                          <a:latin typeface="Calibri"/>
                        </a:defRPr>
                      </a:pPr>
                      <a:r>
                        <a:t>GreedyEdgeStrategyTest</a:t>
                      </a:r>
                    </a:p>
                  </a:txBody>
                  <a:tcPr>
                    <a:solidFill>
                      <a:srgbClr val="12253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0EBEE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2253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0EBEE"/>
                          </a:solidFill>
                          <a:latin typeface="Calibri"/>
                        </a:defRPr>
                      </a:pPr>
                      <a:r>
                        <a:t>All stops visited, correct distance, depot first/last</a:t>
                      </a:r>
                    </a:p>
                  </a:txBody>
                  <a:tcPr>
                    <a:solidFill>
                      <a:srgbClr val="12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354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0EBEE"/>
                          </a:solidFill>
                          <a:latin typeface="Calibri"/>
                        </a:defRPr>
                      </a:pPr>
                      <a:r>
                        <a:t>TwoOptStrategyTest</a:t>
                      </a:r>
                    </a:p>
                  </a:txBody>
                  <a:tcPr>
                    <a:solidFill>
                      <a:srgbClr val="162A4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0EBEE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62A4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0EBEE"/>
                          </a:solidFill>
                          <a:latin typeface="Calibri"/>
                        </a:defRPr>
                      </a:pPr>
                      <a:r>
                        <a:t>Improves on NN, already optimal, single stop valid</a:t>
                      </a:r>
                    </a:p>
                  </a:txBody>
                  <a:tcPr>
                    <a:solidFill>
                      <a:srgbClr val="162A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354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0EBEE"/>
                          </a:solidFill>
                          <a:latin typeface="Calibri"/>
                        </a:defRPr>
                      </a:pPr>
                      <a:r>
                        <a:t>DeliveryGraphTest</a:t>
                      </a:r>
                    </a:p>
                  </a:txBody>
                  <a:tcPr>
                    <a:solidFill>
                      <a:srgbClr val="12253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0EBEE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2253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0EBEE"/>
                          </a:solidFill>
                          <a:latin typeface="Calibri"/>
                        </a:defRPr>
                      </a:pPr>
                      <a:r>
                        <a:t>Symmetric/asymmetric, non-square, negative distances</a:t>
                      </a:r>
                    </a:p>
                  </a:txBody>
                  <a:tcPr>
                    <a:solidFill>
                      <a:srgbClr val="12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4354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0EBEE"/>
                          </a:solidFill>
                          <a:latin typeface="Calibri"/>
                        </a:defRPr>
                      </a:pPr>
                      <a:r>
                        <a:t>CsvMatrixReaderTest</a:t>
                      </a:r>
                    </a:p>
                  </a:txBody>
                  <a:tcPr>
                    <a:solidFill>
                      <a:srgbClr val="162A4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0EBEE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62A4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0EBEE"/>
                          </a:solidFill>
                          <a:latin typeface="Calibri"/>
                        </a:defRPr>
                      </a:pPr>
                      <a:r>
                        <a:t>Valid parse, non-square throws, missing file</a:t>
                      </a:r>
                    </a:p>
                  </a:txBody>
                  <a:tcPr>
                    <a:solidFill>
                      <a:srgbClr val="162A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4354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0EBEE"/>
                          </a:solidFill>
                          <a:latin typeface="Calibri"/>
                        </a:defRPr>
                      </a:pPr>
                      <a:r>
                        <a:rPr dirty="0" err="1"/>
                        <a:t>ConstraintCheckerTest</a:t>
                      </a:r>
                      <a:endParaRPr dirty="0"/>
                    </a:p>
                  </a:txBody>
                  <a:tcPr>
                    <a:solidFill>
                      <a:srgbClr val="12253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0EBEE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2253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E0EBEE"/>
                          </a:solidFill>
                          <a:latin typeface="Calibri"/>
                        </a:defRPr>
                      </a:pPr>
                      <a:r>
                        <a:rPr dirty="0"/>
                        <a:t>Priority ordering, time windows, early/late arrival</a:t>
                      </a:r>
                    </a:p>
                  </a:txBody>
                  <a:tcPr>
                    <a:solidFill>
                      <a:srgbClr val="12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Team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2286000" cy="2540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303520" cy="5029200"/>
          </a:xfrm>
          <a:prstGeom prst="roundRect">
            <a:avLst>
              <a:gd name="adj" fmla="val 4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800" cy="484632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417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0D2CE"/>
                </a:solidFill>
                <a:latin typeface="Calibri"/>
              </a:defRPr>
            </a:pPr>
            <a:r>
              <a:t>Challenges Faced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1. Greedy Edge with Union-Find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   Implementing cycle detection with disjoint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   sets and degree constraints was complex.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endParaRPr/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2. Multiple Constraint Types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   Balancing capacity, time windows, and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   priority ordering simultaneously.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endParaRPr/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3. Extensibility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   Designing for easy addition of new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   algorithms without breaking existing code.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endParaRPr/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4. Coordination &amp; Integration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   Merging work from 4 members across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   algorithm, observer, and reporting modules.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325880"/>
            <a:ext cx="5029200" cy="5029200"/>
          </a:xfrm>
          <a:prstGeom prst="roundRect">
            <a:avLst>
              <a:gd name="adj" fmla="val 4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0" y="1417320"/>
            <a:ext cx="50800" cy="484632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66560" y="1417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0D2CE"/>
                </a:solidFill>
                <a:latin typeface="Calibri"/>
              </a:defRPr>
            </a:pPr>
            <a:r>
              <a:t>How We Addressed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920240"/>
            <a:ext cx="4480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Strategy Pattern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   Plug-and-play algorithm architecture.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   Each member implemented their strategy.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endParaRPr/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Observer Pattern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   Decoupled logging from business logic.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   Observer module developed independently.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endParaRPr/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Template Method Pattern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   Standardized report sections.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   I/O team only overrides formatting.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endParaRPr/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Regular Team Meetings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   Weekly sync to review progress, resolve</a:t>
            </a:r>
          </a:p>
          <a:p>
            <a:pPr>
              <a:spcAft>
                <a:spcPts val="200"/>
              </a:spcAft>
              <a:defRPr sz="1400">
                <a:solidFill>
                  <a:srgbClr val="E0EBEE"/>
                </a:solidFill>
                <a:latin typeface="Calibri"/>
              </a:defRPr>
            </a:pPr>
            <a:r>
              <a:t>   integration issues, and plan next steps.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Lifecycle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2286000" cy="2540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303520" cy="2560320"/>
          </a:xfrm>
          <a:prstGeom prst="roundRect">
            <a:avLst>
              <a:gd name="adj" fmla="val 5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0D2CE"/>
                </a:solidFill>
                <a:latin typeface="Calibri"/>
              </a:defRPr>
            </a:pPr>
            <a:r>
              <a:t>Build System: Maven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maven-compiler-plugin → Java 11 compilation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maven-surefire-plugin → automated test execution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maven-shade-plugin → fat JAR to Release/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endParaRPr/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Dependencies: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  Gson 2.10.1 (JSON)  ·  JUnit 5.10.2 (Testing)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71600"/>
            <a:ext cx="5029200" cy="2560320"/>
          </a:xfrm>
          <a:prstGeom prst="roundRect">
            <a:avLst>
              <a:gd name="adj" fmla="val 5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0" y="155448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0D2CE"/>
                </a:solidFill>
                <a:latin typeface="Calibri"/>
              </a:defRPr>
            </a:pPr>
            <a:r>
              <a:t>CI/CD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965960"/>
            <a:ext cx="4480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Build:   ./mvnw clean package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Test:    ./mvnw test (30+ tests, all passing)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Package: JAR → Release/DeliveryRouteOptimizer.jar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endParaRPr/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Version Control: Git + GitHub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0">
                <a:solidFill>
                  <a:srgbClr val="E0EBEE"/>
                </a:solidFill>
                <a:latin typeface="Calibri"/>
              </a:defRPr>
            </a:pPr>
            <a:r>
              <a:t>  Structured commits · Feature branching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10698480" cy="2286000"/>
          </a:xfrm>
          <a:prstGeom prst="roundRect">
            <a:avLst>
              <a:gd name="adj" fmla="val 5000"/>
            </a:avLst>
          </a:prstGeom>
          <a:solidFill>
            <a:srgbClr val="16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38912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0D2CE"/>
                </a:solidFill>
                <a:latin typeface="Calibri"/>
              </a:defRPr>
            </a:pPr>
            <a:r>
              <a:t>Project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149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r>
              <a:t>Source/          Maven project (src/main/java + src/test/java)         8 packages, 15+ classes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r>
              <a:t>Release/         Compiled JAR (DeliveryRouteOptimizer.jar)             Ready-to-run artifact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r>
              <a:t>data/            Sample input files (distances.csv, packages.json)     Test data included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r>
              <a:t>Docs/            User Manual, Installation Guide, Reports              Full documentation suite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300" b="0">
                <a:solidFill>
                  <a:srgbClr val="E0EBEE"/>
                </a:solidFill>
                <a:latin typeface="Calibri"/>
              </a:defRPr>
            </a:pPr>
            <a:r>
              <a:t>logs/            Runtime event logs (events.log)                       Observer-generated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2286000" cy="25400"/>
          </a:xfrm>
          <a:prstGeom prst="rect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1417320"/>
            <a:ext cx="365760" cy="365760"/>
          </a:xfrm>
          <a:prstGeom prst="ellipse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43560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0D2CE"/>
                </a:solidFill>
                <a:latin typeface="Calibri"/>
              </a:defRPr>
            </a:pPr>
            <a:r>
              <a:t>Modular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39903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BEE"/>
                </a:solidFill>
                <a:latin typeface="Calibri"/>
              </a:defRPr>
            </a:pPr>
            <a:r>
              <a:t>Clean separation via Strategy, Observer, Template Method patterns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103120"/>
            <a:ext cx="365760" cy="365760"/>
          </a:xfrm>
          <a:prstGeom prst="ellipse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12140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0D2CE"/>
                </a:solidFill>
                <a:latin typeface="Calibri"/>
              </a:defRPr>
            </a:pPr>
            <a:r>
              <a:t>3 Algorithms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08483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BEE"/>
                </a:solidFill>
                <a:latin typeface="Calibri"/>
              </a:defRPr>
            </a:pPr>
            <a:r>
              <a:t>Nearest Neighbor, Greedy Edge Insertion, 2-Opt Improvement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2788920"/>
            <a:ext cx="365760" cy="365760"/>
          </a:xfrm>
          <a:prstGeom prst="ellipse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280720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0D2CE"/>
                </a:solidFill>
                <a:latin typeface="Calibri"/>
              </a:defRPr>
            </a:pPr>
            <a:r>
              <a:t>Real-world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77063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BEE"/>
                </a:solidFill>
                <a:latin typeface="Calibri"/>
              </a:defRPr>
            </a:pPr>
            <a:r>
              <a:t>Vehicle capacity, time windows, delivery priorities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3474720"/>
            <a:ext cx="365760" cy="365760"/>
          </a:xfrm>
          <a:prstGeom prst="ellipse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349300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429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0D2CE"/>
                </a:solidFill>
                <a:latin typeface="Calibri"/>
              </a:defRPr>
            </a:pPr>
            <a:r>
              <a:t>Comprehensive Testing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345643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BEE"/>
                </a:solidFill>
                <a:latin typeface="Calibri"/>
              </a:defRPr>
            </a:pPr>
            <a:r>
              <a:t>30+ JUnit 5 tests across 8 test classes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4160520"/>
            <a:ext cx="365760" cy="365760"/>
          </a:xfrm>
          <a:prstGeom prst="ellipse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17880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0D2CE"/>
                </a:solidFill>
                <a:latin typeface="Calibri"/>
              </a:defRPr>
            </a:pPr>
            <a:r>
              <a:t>Full Documentation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14223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BEE"/>
                </a:solidFill>
                <a:latin typeface="Calibri"/>
              </a:defRPr>
            </a:pPr>
            <a:r>
              <a:t>README, User Manual, Installation Guide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846320"/>
            <a:ext cx="365760" cy="365760"/>
          </a:xfrm>
          <a:prstGeom prst="ellipse">
            <a:avLst/>
          </a:prstGeom>
          <a:solidFill>
            <a:srgbClr val="4A8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486460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800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0D2CE"/>
                </a:solidFill>
                <a:latin typeface="Calibri"/>
              </a:defRPr>
            </a:pPr>
            <a:r>
              <a:t>Production-ready CLI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482803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BEE"/>
                </a:solidFill>
                <a:latin typeface="Calibri"/>
              </a:defRPr>
            </a:pPr>
            <a:r>
              <a:t>Fat JAR with Maven build, sample data, demo script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669280"/>
            <a:ext cx="10698480" cy="731520"/>
          </a:xfrm>
          <a:prstGeom prst="roundRect">
            <a:avLst>
              <a:gd name="adj" fmla="val 3000"/>
            </a:avLst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4072" y="5888846"/>
            <a:ext cx="10393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AB0BE"/>
                </a:solidFill>
                <a:latin typeface="Calibri"/>
              </a:defRPr>
            </a:pPr>
            <a:r>
              <a:rPr dirty="0"/>
              <a:t>Acknowledgement of AI-Generated Content: AI tools were used to</a:t>
            </a:r>
            <a:r>
              <a:rPr lang="en-US" dirty="0"/>
              <a:t> brainstorm project ideas and</a:t>
            </a:r>
            <a:r>
              <a:rPr dirty="0"/>
              <a:t> assist with </a:t>
            </a:r>
            <a:r>
              <a:rPr lang="en-US" dirty="0"/>
              <a:t>code generation during the problems faced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</TotalTime>
  <Words>1296</Words>
  <Application>Microsoft Macintosh PowerPoint</Application>
  <PresentationFormat>Widescreen</PresentationFormat>
  <Paragraphs>241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LESSOV Akniyet</cp:lastModifiedBy>
  <cp:revision>6</cp:revision>
  <dcterms:created xsi:type="dcterms:W3CDTF">2013-01-27T09:14:16Z</dcterms:created>
  <dcterms:modified xsi:type="dcterms:W3CDTF">2026-04-14T16:00:21Z</dcterms:modified>
  <cp:category/>
</cp:coreProperties>
</file>